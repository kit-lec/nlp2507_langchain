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3FDA29-F4D2-4760-99E4-76C338AAC61A}">
  <a:tblStyle styleId="{353FDA29-F4D2-4760-99E4-76C338AAC6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56c9125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56c9125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6c9125c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56c9125c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56c9125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56c9125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7150" y="97375"/>
            <a:ext cx="2028600" cy="400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Confusion Matrix</a:t>
            </a:r>
            <a:endParaRPr b="1"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{353FDA29-F4D2-4760-99E4-76C338AAC61A}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2)   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3)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 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4)   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 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449975" y="3417050"/>
            <a:ext cx="809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63;p14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{353FDA29-F4D2-4760-99E4-76C338AAC61A}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'암'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실제로는 '암' 아님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암' 으로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2)   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암' 이 아니라고 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3)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 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4)   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 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449975" y="3417050"/>
            <a:ext cx="809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5"/>
          <p:cNvGraphicFramePr/>
          <p:nvPr/>
        </p:nvGraphicFramePr>
        <p:xfrm>
          <a:off x="1552700" y="3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{353FDA29-F4D2-4760-99E4-76C338AAC61A}</a:tableStyleId>
              </a:tblPr>
              <a:tblGrid>
                <a:gridCol w="995875"/>
                <a:gridCol w="2241450"/>
                <a:gridCol w="2502500"/>
              </a:tblGrid>
              <a:tr h="48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 '스팸메일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실제로는 '스팸메일' 아님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스팸'으로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1)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TP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2)   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FP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'</a:t>
                      </a:r>
                      <a:r>
                        <a:rPr lang="ko"/>
                        <a:t>스팸'이 아니라고 판정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3)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 FN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4)              </a:t>
                      </a:r>
                      <a:r>
                        <a:rPr lang="ko" sz="3600">
                          <a:solidFill>
                            <a:schemeClr val="dk1"/>
                          </a:solidFill>
                        </a:rPr>
                        <a:t> TN</a:t>
                      </a:r>
                      <a:endParaRPr sz="3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721525" y="264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 rot="-5400000">
            <a:off x="-198375" y="1420612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449975" y="3417050"/>
            <a:ext cx="809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accuracy( 정확도 ) : </a:t>
            </a:r>
            <a:r>
              <a:rPr lang="ko">
                <a:solidFill>
                  <a:schemeClr val="dk1"/>
                </a:solidFill>
              </a:rPr>
              <a:t> 전체 케이스 중 '맞게(True) 가 얼마나 되느냐?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(TP + TN)  /  (TP + TN + FN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presicion (정밀도) :</a:t>
            </a:r>
            <a:r>
              <a:rPr lang="ko">
                <a:solidFill>
                  <a:schemeClr val="dk1"/>
                </a:solidFill>
              </a:rPr>
              <a:t> positive 로 판정한것들 중 제대로 맞게 (True) 가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TP   / (TP + FP)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recall (재현률) </a:t>
            </a:r>
            <a:r>
              <a:rPr lang="ko">
                <a:solidFill>
                  <a:schemeClr val="dk1"/>
                </a:solidFill>
              </a:rPr>
              <a:t>: 실제 positive 를 제대로 맞게 (True) 판정한게 얼마나 되는가?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         TP   /  (TP + FN)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6"/>
          <p:cNvGraphicFramePr/>
          <p:nvPr/>
        </p:nvGraphicFramePr>
        <p:xfrm>
          <a:off x="1938300" y="57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{353FDA29-F4D2-4760-99E4-76C338AAC61A}</a:tableStyleId>
              </a:tblPr>
              <a:tblGrid>
                <a:gridCol w="1182375"/>
                <a:gridCol w="2224250"/>
                <a:gridCol w="263337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실제로 ‘비가 옴’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실제로는 ‘비 안옴’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11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‘비옴’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으로 예보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positive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arenR"/>
                      </a:pPr>
                      <a:r>
                        <a:rPr lang="ko"/>
                        <a:t>      </a:t>
                      </a:r>
                      <a:r>
                        <a:rPr lang="ko" sz="3600"/>
                        <a:t>TP</a:t>
                      </a:r>
                      <a:endParaRPr sz="3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  (True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2)              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FP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     (False Positive)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2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</a:rPr>
                        <a:t>‘비 안옴’</a:t>
                      </a:r>
                      <a:br>
                        <a:rPr lang="ko">
                          <a:solidFill>
                            <a:srgbClr val="0000FF"/>
                          </a:solidFill>
                        </a:rPr>
                      </a:br>
                      <a:r>
                        <a:rPr lang="ko">
                          <a:solidFill>
                            <a:srgbClr val="0000FF"/>
                          </a:solidFill>
                        </a:rPr>
                        <a:t>으로 예보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negative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3)</a:t>
                      </a:r>
                      <a:r>
                        <a:rPr lang="ko" sz="3600">
                          <a:solidFill>
                            <a:srgbClr val="000000"/>
                          </a:solidFill>
                        </a:rPr>
                        <a:t> FN</a:t>
                      </a:r>
                      <a:endParaRPr sz="36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(False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4)              </a:t>
                      </a:r>
                      <a:r>
                        <a:rPr lang="ko" sz="3600"/>
                        <a:t> TN</a:t>
                      </a:r>
                      <a:endParaRPr sz="3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(True Negative)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4331125" y="178800"/>
            <a:ext cx="24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Actual Values  (실제 값)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 rot="-5400000">
            <a:off x="-54725" y="1483663"/>
            <a:ext cx="30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Predicted Values (예측,판정값)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1432675" y="3636475"/>
            <a:ext cx="731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accuracy( 정확도 )</a:t>
            </a:r>
            <a:r>
              <a:rPr lang="ko"/>
              <a:t> : 전체 케이스 중 ‘맞게(True) 가 얼마나 되냐?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>
                <a:solidFill>
                  <a:srgbClr val="000000"/>
                </a:solidFill>
              </a:rPr>
              <a:t>(TP + TN) / (TP + TN + FN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presicion (정밀도) :</a:t>
            </a:r>
            <a:r>
              <a:rPr lang="ko">
                <a:solidFill>
                  <a:srgbClr val="000000"/>
                </a:solidFill>
              </a:rPr>
              <a:t> positive 로 판정한것들 중 제대로 맞게(True) 가 얼마나 되나?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recall (재현률) </a:t>
            </a:r>
            <a:r>
              <a:rPr lang="ko">
                <a:solidFill>
                  <a:srgbClr val="000000"/>
                </a:solidFill>
              </a:rPr>
              <a:t>: 실제 positive 를 제대로 맞게 (True) 판정한게 얼마나 되는가?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      TP / (TP + FN)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