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DFC77E-F70A-4ED9-81EE-C84F1117DAA0}">
  <a:tblStyle styleId="{99DFC77E-F70A-4ED9-81EE-C84F1117DA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OpenSans-regular.fntdata"/><Relationship Id="rId14" Type="http://schemas.openxmlformats.org/officeDocument/2006/relationships/slide" Target="slides/slide8.xml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aff04d3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aff04d3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aff04d3d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aff04d3d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aff04d3d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aff04d3d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aff04d3d2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aff04d3d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aff04d3d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aff04d3d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aff04d3d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aff04d3d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aff04d3d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aff04d3d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Relationship Id="rId4" Type="http://schemas.openxmlformats.org/officeDocument/2006/relationships/image" Target="../media/image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82550" y="40725"/>
            <a:ext cx="55899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기존 Linear Layer  (Fully Connected Layer)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932050" y="60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412925"/>
              </a:tblGrid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3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0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7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8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5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</a:tbl>
          </a:graphicData>
        </a:graphic>
      </p:graphicFrame>
      <p:sp>
        <p:nvSpPr>
          <p:cNvPr id="56" name="Google Shape;56;p13"/>
          <p:cNvSpPr/>
          <p:nvPr/>
        </p:nvSpPr>
        <p:spPr>
          <a:xfrm>
            <a:off x="3211175" y="881775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1344875" y="780525"/>
            <a:ext cx="1866300" cy="3939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" name="Google Shape;58;p13"/>
          <p:cNvCxnSpPr/>
          <p:nvPr/>
        </p:nvCxnSpPr>
        <p:spPr>
          <a:xfrm flipH="1" rot="10800000">
            <a:off x="1369775" y="1174425"/>
            <a:ext cx="1841400" cy="738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" name="Google Shape;59;p13"/>
          <p:cNvCxnSpPr/>
          <p:nvPr/>
        </p:nvCxnSpPr>
        <p:spPr>
          <a:xfrm flipH="1" rot="10800000">
            <a:off x="1331075" y="1174425"/>
            <a:ext cx="1880100" cy="5784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p13"/>
          <p:cNvCxnSpPr/>
          <p:nvPr/>
        </p:nvCxnSpPr>
        <p:spPr>
          <a:xfrm flipH="1" rot="10800000">
            <a:off x="1350275" y="1174425"/>
            <a:ext cx="1860900" cy="9276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p13"/>
          <p:cNvCxnSpPr/>
          <p:nvPr/>
        </p:nvCxnSpPr>
        <p:spPr>
          <a:xfrm flipH="1" rot="10800000">
            <a:off x="1369775" y="1174425"/>
            <a:ext cx="1841400" cy="13257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" name="Google Shape;62;p13"/>
          <p:cNvCxnSpPr/>
          <p:nvPr/>
        </p:nvCxnSpPr>
        <p:spPr>
          <a:xfrm flipH="1" rot="10800000">
            <a:off x="1340675" y="1174425"/>
            <a:ext cx="1870500" cy="1830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/>
          <p:nvPr/>
        </p:nvCxnSpPr>
        <p:spPr>
          <a:xfrm flipH="1" rot="10800000">
            <a:off x="1369775" y="1174425"/>
            <a:ext cx="1841400" cy="22476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3"/>
          <p:cNvCxnSpPr/>
          <p:nvPr/>
        </p:nvCxnSpPr>
        <p:spPr>
          <a:xfrm flipH="1" rot="10800000">
            <a:off x="1340675" y="1174425"/>
            <a:ext cx="1870500" cy="2655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/>
          <p:nvPr/>
        </p:nvCxnSpPr>
        <p:spPr>
          <a:xfrm flipH="1" rot="10800000">
            <a:off x="1369775" y="1174425"/>
            <a:ext cx="1841400" cy="3111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3"/>
          <p:cNvCxnSpPr/>
          <p:nvPr/>
        </p:nvCxnSpPr>
        <p:spPr>
          <a:xfrm flipH="1" rot="10800000">
            <a:off x="1418375" y="1174425"/>
            <a:ext cx="1792800" cy="34605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3"/>
          <p:cNvCxnSpPr/>
          <p:nvPr/>
        </p:nvCxnSpPr>
        <p:spPr>
          <a:xfrm flipH="1" rot="10800000">
            <a:off x="1344913" y="1174575"/>
            <a:ext cx="1866300" cy="40137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3"/>
          <p:cNvSpPr/>
          <p:nvPr/>
        </p:nvSpPr>
        <p:spPr>
          <a:xfrm>
            <a:off x="932113" y="4981875"/>
            <a:ext cx="412800" cy="412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9" name="Google Shape;69;p13"/>
          <p:cNvCxnSpPr/>
          <p:nvPr/>
        </p:nvCxnSpPr>
        <p:spPr>
          <a:xfrm>
            <a:off x="3796475" y="1174425"/>
            <a:ext cx="804900" cy="57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3"/>
          <p:cNvSpPr/>
          <p:nvPr/>
        </p:nvSpPr>
        <p:spPr>
          <a:xfrm>
            <a:off x="5542475" y="1273925"/>
            <a:ext cx="3366600" cy="1090200"/>
          </a:xfrm>
          <a:prstGeom prst="wedgeRoundRectCallout">
            <a:avLst>
              <a:gd fmla="val -100148" name="adj1"/>
              <a:gd fmla="val -52369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3 x </a:t>
            </a:r>
            <a:r>
              <a:rPr lang="ko" sz="1300">
                <a:solidFill>
                  <a:srgbClr val="0000FF"/>
                </a:solidFill>
              </a:rPr>
              <a:t>w1</a:t>
            </a:r>
            <a:r>
              <a:rPr lang="ko" sz="1300"/>
              <a:t> + 1 x </a:t>
            </a:r>
            <a:r>
              <a:rPr lang="ko" sz="1300">
                <a:solidFill>
                  <a:srgbClr val="0000FF"/>
                </a:solidFill>
              </a:rPr>
              <a:t>w2</a:t>
            </a:r>
            <a:r>
              <a:rPr lang="ko" sz="1300"/>
              <a:t> + …..    5 x w10 + b</a:t>
            </a:r>
            <a:endParaRPr sz="1300"/>
          </a:p>
        </p:txBody>
      </p:sp>
      <p:sp>
        <p:nvSpPr>
          <p:cNvPr id="71" name="Google Shape;71;p13"/>
          <p:cNvSpPr/>
          <p:nvPr/>
        </p:nvSpPr>
        <p:spPr>
          <a:xfrm>
            <a:off x="3172350" y="3585325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3172350" y="4170625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h100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3347075" y="1544625"/>
            <a:ext cx="313500" cy="19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595959"/>
              </a:solidFill>
            </a:endParaRPr>
          </a:p>
        </p:txBody>
      </p:sp>
      <p:cxnSp>
        <p:nvCxnSpPr>
          <p:cNvPr id="74" name="Google Shape;74;p13"/>
          <p:cNvCxnSpPr>
            <a:stCxn id="71" idx="6"/>
          </p:cNvCxnSpPr>
          <p:nvPr/>
        </p:nvCxnSpPr>
        <p:spPr>
          <a:xfrm>
            <a:off x="3757650" y="3877975"/>
            <a:ext cx="8436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3"/>
          <p:cNvCxnSpPr>
            <a:stCxn id="72" idx="6"/>
          </p:cNvCxnSpPr>
          <p:nvPr/>
        </p:nvCxnSpPr>
        <p:spPr>
          <a:xfrm flipH="1" rot="10800000">
            <a:off x="3757650" y="4450675"/>
            <a:ext cx="834000" cy="126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" name="Google Shape;76;p13"/>
          <p:cNvSpPr/>
          <p:nvPr/>
        </p:nvSpPr>
        <p:spPr>
          <a:xfrm>
            <a:off x="3211175" y="1491375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7" name="Google Shape;77;p13"/>
          <p:cNvCxnSpPr>
            <a:stCxn id="76" idx="6"/>
          </p:cNvCxnSpPr>
          <p:nvPr/>
        </p:nvCxnSpPr>
        <p:spPr>
          <a:xfrm>
            <a:off x="3796475" y="1784025"/>
            <a:ext cx="804900" cy="57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" name="Google Shape;82;p14"/>
          <p:cNvGraphicFramePr/>
          <p:nvPr/>
        </p:nvGraphicFramePr>
        <p:xfrm>
          <a:off x="1008250" y="30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412925"/>
              </a:tblGrid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3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0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7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8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5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</a:tbl>
          </a:graphicData>
        </a:graphic>
      </p:graphicFrame>
      <p:sp>
        <p:nvSpPr>
          <p:cNvPr id="83" name="Google Shape;83;p14"/>
          <p:cNvSpPr/>
          <p:nvPr/>
        </p:nvSpPr>
        <p:spPr>
          <a:xfrm>
            <a:off x="1529400" y="375075"/>
            <a:ext cx="264000" cy="1165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2075600" y="732425"/>
            <a:ext cx="4870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3 x </a:t>
            </a:r>
            <a:r>
              <a:rPr lang="ko" sz="1800">
                <a:solidFill>
                  <a:srgbClr val="0000FF"/>
                </a:solidFill>
              </a:rPr>
              <a:t>w1 </a:t>
            </a:r>
            <a:r>
              <a:rPr lang="ko" sz="1800">
                <a:solidFill>
                  <a:srgbClr val="595959"/>
                </a:solidFill>
              </a:rPr>
              <a:t>+ 1 x </a:t>
            </a:r>
            <a:r>
              <a:rPr lang="ko" sz="1800">
                <a:solidFill>
                  <a:srgbClr val="0000FF"/>
                </a:solidFill>
              </a:rPr>
              <a:t>w2 </a:t>
            </a:r>
            <a:r>
              <a:rPr lang="ko" sz="1800">
                <a:solidFill>
                  <a:srgbClr val="595959"/>
                </a:solidFill>
              </a:rPr>
              <a:t>+ 0 x </a:t>
            </a:r>
            <a:r>
              <a:rPr lang="ko" sz="1800">
                <a:solidFill>
                  <a:srgbClr val="0000FF"/>
                </a:solidFill>
              </a:rPr>
              <a:t>w3 </a:t>
            </a:r>
            <a:r>
              <a:rPr lang="ko" sz="1800">
                <a:solidFill>
                  <a:srgbClr val="595959"/>
                </a:solidFill>
              </a:rPr>
              <a:t>+ b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1605600" y="832275"/>
            <a:ext cx="264000" cy="1165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2151800" y="1189625"/>
            <a:ext cx="4870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1 x </a:t>
            </a:r>
            <a:r>
              <a:rPr lang="ko" sz="1800">
                <a:solidFill>
                  <a:srgbClr val="0000FF"/>
                </a:solidFill>
              </a:rPr>
              <a:t>w1 </a:t>
            </a:r>
            <a:r>
              <a:rPr lang="ko" sz="1800">
                <a:solidFill>
                  <a:srgbClr val="595959"/>
                </a:solidFill>
              </a:rPr>
              <a:t>+ 0 x </a:t>
            </a:r>
            <a:r>
              <a:rPr lang="ko" sz="1800">
                <a:solidFill>
                  <a:srgbClr val="0000FF"/>
                </a:solidFill>
              </a:rPr>
              <a:t>w2 </a:t>
            </a:r>
            <a:r>
              <a:rPr lang="ko" sz="1800">
                <a:solidFill>
                  <a:srgbClr val="595959"/>
                </a:solidFill>
              </a:rPr>
              <a:t>+ 7 x </a:t>
            </a:r>
            <a:r>
              <a:rPr lang="ko" sz="1800">
                <a:solidFill>
                  <a:srgbClr val="0000FF"/>
                </a:solidFill>
              </a:rPr>
              <a:t>w3 </a:t>
            </a:r>
            <a:r>
              <a:rPr lang="ko" sz="1800">
                <a:solidFill>
                  <a:srgbClr val="595959"/>
                </a:solidFill>
              </a:rPr>
              <a:t>+ b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/>
        </p:nvSpPr>
        <p:spPr>
          <a:xfrm>
            <a:off x="1145175" y="50475"/>
            <a:ext cx="33093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합성곱 (Convolution)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92" name="Google Shape;92;p15"/>
          <p:cNvGraphicFramePr/>
          <p:nvPr/>
        </p:nvGraphicFramePr>
        <p:xfrm>
          <a:off x="940325" y="57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412925"/>
              </a:tblGrid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3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0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7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8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5</a:t>
                      </a:r>
                      <a:endParaRPr sz="1300"/>
                    </a:p>
                  </a:txBody>
                  <a:tcPr marT="0" marB="0" marR="0" marL="0" anchor="ctr">
                    <a:noFill/>
                  </a:tcPr>
                </a:tc>
              </a:tr>
            </a:tbl>
          </a:graphicData>
        </a:graphic>
      </p:graphicFrame>
      <p:sp>
        <p:nvSpPr>
          <p:cNvPr id="93" name="Google Shape;93;p15"/>
          <p:cNvSpPr/>
          <p:nvPr/>
        </p:nvSpPr>
        <p:spPr>
          <a:xfrm>
            <a:off x="3211175" y="65317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4" name="Google Shape;94;p15"/>
          <p:cNvCxnSpPr>
            <a:endCxn id="93" idx="2"/>
          </p:cNvCxnSpPr>
          <p:nvPr/>
        </p:nvCxnSpPr>
        <p:spPr>
          <a:xfrm>
            <a:off x="1378175" y="672975"/>
            <a:ext cx="1833000" cy="2136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5"/>
          <p:cNvCxnSpPr>
            <a:endCxn id="93" idx="2"/>
          </p:cNvCxnSpPr>
          <p:nvPr/>
        </p:nvCxnSpPr>
        <p:spPr>
          <a:xfrm flipH="1" rot="10800000">
            <a:off x="1368275" y="8865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5"/>
          <p:cNvSpPr/>
          <p:nvPr/>
        </p:nvSpPr>
        <p:spPr>
          <a:xfrm>
            <a:off x="3211175" y="113922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211175" y="162527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3211175" y="211132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9" name="Google Shape;99;p15"/>
          <p:cNvCxnSpPr>
            <a:endCxn id="93" idx="2"/>
          </p:cNvCxnSpPr>
          <p:nvPr/>
        </p:nvCxnSpPr>
        <p:spPr>
          <a:xfrm flipH="1" rot="10800000">
            <a:off x="1349075" y="8865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5"/>
          <p:cNvSpPr/>
          <p:nvPr/>
        </p:nvSpPr>
        <p:spPr>
          <a:xfrm>
            <a:off x="3211175" y="255817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211175" y="304422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3211175" y="353027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211175" y="401632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4" name="Google Shape;104;p15"/>
          <p:cNvCxnSpPr>
            <a:stCxn id="93" idx="6"/>
          </p:cNvCxnSpPr>
          <p:nvPr/>
        </p:nvCxnSpPr>
        <p:spPr>
          <a:xfrm>
            <a:off x="3677975" y="8865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5"/>
          <p:cNvCxnSpPr/>
          <p:nvPr/>
        </p:nvCxnSpPr>
        <p:spPr>
          <a:xfrm>
            <a:off x="3677975" y="18771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5"/>
          <p:cNvCxnSpPr/>
          <p:nvPr/>
        </p:nvCxnSpPr>
        <p:spPr>
          <a:xfrm>
            <a:off x="3677975" y="23343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5"/>
          <p:cNvCxnSpPr/>
          <p:nvPr/>
        </p:nvCxnSpPr>
        <p:spPr>
          <a:xfrm>
            <a:off x="3677975" y="13437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5"/>
          <p:cNvCxnSpPr/>
          <p:nvPr/>
        </p:nvCxnSpPr>
        <p:spPr>
          <a:xfrm>
            <a:off x="3677975" y="27915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5"/>
          <p:cNvCxnSpPr/>
          <p:nvPr/>
        </p:nvCxnSpPr>
        <p:spPr>
          <a:xfrm>
            <a:off x="3677975" y="37821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5"/>
          <p:cNvCxnSpPr/>
          <p:nvPr/>
        </p:nvCxnSpPr>
        <p:spPr>
          <a:xfrm>
            <a:off x="3677975" y="42393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5"/>
          <p:cNvCxnSpPr/>
          <p:nvPr/>
        </p:nvCxnSpPr>
        <p:spPr>
          <a:xfrm>
            <a:off x="3677975" y="32487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5"/>
          <p:cNvCxnSpPr>
            <a:endCxn id="96" idx="2"/>
          </p:cNvCxnSpPr>
          <p:nvPr/>
        </p:nvCxnSpPr>
        <p:spPr>
          <a:xfrm>
            <a:off x="1368275" y="11485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5"/>
          <p:cNvCxnSpPr/>
          <p:nvPr/>
        </p:nvCxnSpPr>
        <p:spPr>
          <a:xfrm>
            <a:off x="1368275" y="16819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5"/>
          <p:cNvCxnSpPr/>
          <p:nvPr/>
        </p:nvCxnSpPr>
        <p:spPr>
          <a:xfrm>
            <a:off x="1368275" y="21391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5"/>
          <p:cNvCxnSpPr/>
          <p:nvPr/>
        </p:nvCxnSpPr>
        <p:spPr>
          <a:xfrm>
            <a:off x="1368275" y="25201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5"/>
          <p:cNvCxnSpPr/>
          <p:nvPr/>
        </p:nvCxnSpPr>
        <p:spPr>
          <a:xfrm>
            <a:off x="1368275" y="29773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1368275" y="34345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5"/>
          <p:cNvCxnSpPr/>
          <p:nvPr/>
        </p:nvCxnSpPr>
        <p:spPr>
          <a:xfrm>
            <a:off x="1368275" y="38155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5"/>
          <p:cNvCxnSpPr/>
          <p:nvPr/>
        </p:nvCxnSpPr>
        <p:spPr>
          <a:xfrm flipH="1" rot="10800000">
            <a:off x="1368275" y="14199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5"/>
          <p:cNvCxnSpPr/>
          <p:nvPr/>
        </p:nvCxnSpPr>
        <p:spPr>
          <a:xfrm flipH="1" rot="10800000">
            <a:off x="1368275" y="18771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5"/>
          <p:cNvCxnSpPr/>
          <p:nvPr/>
        </p:nvCxnSpPr>
        <p:spPr>
          <a:xfrm flipH="1" rot="10800000">
            <a:off x="1368275" y="23343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5"/>
          <p:cNvCxnSpPr/>
          <p:nvPr/>
        </p:nvCxnSpPr>
        <p:spPr>
          <a:xfrm flipH="1" rot="10800000">
            <a:off x="1368275" y="27915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5"/>
          <p:cNvCxnSpPr/>
          <p:nvPr/>
        </p:nvCxnSpPr>
        <p:spPr>
          <a:xfrm flipH="1" rot="10800000">
            <a:off x="1368275" y="32487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5"/>
          <p:cNvCxnSpPr/>
          <p:nvPr/>
        </p:nvCxnSpPr>
        <p:spPr>
          <a:xfrm flipH="1" rot="10800000">
            <a:off x="1368275" y="36297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5"/>
          <p:cNvCxnSpPr>
            <a:endCxn id="103" idx="1"/>
          </p:cNvCxnSpPr>
          <p:nvPr/>
        </p:nvCxnSpPr>
        <p:spPr>
          <a:xfrm flipH="1" rot="10800000">
            <a:off x="1368236" y="4084686"/>
            <a:ext cx="1911300" cy="10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5"/>
          <p:cNvCxnSpPr/>
          <p:nvPr/>
        </p:nvCxnSpPr>
        <p:spPr>
          <a:xfrm flipH="1" rot="10800000">
            <a:off x="1349075" y="14199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5"/>
          <p:cNvCxnSpPr/>
          <p:nvPr/>
        </p:nvCxnSpPr>
        <p:spPr>
          <a:xfrm flipH="1" rot="10800000">
            <a:off x="1349075" y="18771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5"/>
          <p:cNvCxnSpPr/>
          <p:nvPr/>
        </p:nvCxnSpPr>
        <p:spPr>
          <a:xfrm flipH="1" rot="10800000">
            <a:off x="1272875" y="23343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5"/>
          <p:cNvCxnSpPr/>
          <p:nvPr/>
        </p:nvCxnSpPr>
        <p:spPr>
          <a:xfrm flipH="1" rot="10800000">
            <a:off x="1349075" y="27915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5"/>
          <p:cNvCxnSpPr/>
          <p:nvPr/>
        </p:nvCxnSpPr>
        <p:spPr>
          <a:xfrm flipH="1" rot="10800000">
            <a:off x="1349075" y="32487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5"/>
          <p:cNvCxnSpPr/>
          <p:nvPr/>
        </p:nvCxnSpPr>
        <p:spPr>
          <a:xfrm flipH="1" rot="10800000">
            <a:off x="1349075" y="36297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5"/>
          <p:cNvCxnSpPr/>
          <p:nvPr/>
        </p:nvCxnSpPr>
        <p:spPr>
          <a:xfrm flipH="1" rot="10800000">
            <a:off x="1349075" y="40869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5"/>
          <p:cNvSpPr/>
          <p:nvPr/>
        </p:nvSpPr>
        <p:spPr>
          <a:xfrm>
            <a:off x="3406350" y="15543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3406350" y="10209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3406350" y="24687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3406350" y="20115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3406350" y="34593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3406350" y="39165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3406350" y="29259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5892200" y="1864425"/>
            <a:ext cx="2871000" cy="1485600"/>
          </a:xfrm>
          <a:prstGeom prst="wedgeRoundRectCallout">
            <a:avLst>
              <a:gd fmla="val -79458" name="adj1"/>
              <a:gd fmla="val 23220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뉴런이 8개란 뜻이 아니다!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동일 뉴런 (weight , bias) 사용하여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8번의 계산을 통해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8개의 출력을 만들어 냄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75" y="288250"/>
            <a:ext cx="3762375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52400"/>
            <a:ext cx="4267199" cy="4275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/>
        </p:nvSpPr>
        <p:spPr>
          <a:xfrm>
            <a:off x="2397075" y="147500"/>
            <a:ext cx="36030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595959"/>
                </a:solidFill>
              </a:rPr>
              <a:t>패딩을 사용하는 이유</a:t>
            </a:r>
            <a:endParaRPr sz="2100">
              <a:solidFill>
                <a:srgbClr val="595959"/>
              </a:solidFill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57025" y="882175"/>
            <a:ext cx="34965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패딩을 사용하지 않는 경우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153" name="Google Shape;153;p17"/>
          <p:cNvGraphicFramePr/>
          <p:nvPr/>
        </p:nvGraphicFramePr>
        <p:xfrm>
          <a:off x="1910225" y="167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" name="Google Shape;154;p17"/>
          <p:cNvGraphicFramePr/>
          <p:nvPr/>
        </p:nvGraphicFramePr>
        <p:xfrm>
          <a:off x="1910225" y="167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</a:tblGrid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" name="Google Shape;155;p17"/>
          <p:cNvGraphicFramePr/>
          <p:nvPr/>
        </p:nvGraphicFramePr>
        <p:xfrm>
          <a:off x="2292170" y="16748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</a:tblGrid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6" name="Google Shape;156;p17"/>
          <p:cNvGraphicFramePr/>
          <p:nvPr/>
        </p:nvGraphicFramePr>
        <p:xfrm>
          <a:off x="2673170" y="16748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</a:tblGrid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7" name="Google Shape;157;p17"/>
          <p:cNvGraphicFramePr/>
          <p:nvPr/>
        </p:nvGraphicFramePr>
        <p:xfrm>
          <a:off x="1919356" y="20558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73725"/>
                <a:gridCol w="391975"/>
              </a:tblGrid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8" name="Google Shape;158;p17"/>
          <p:cNvGraphicFramePr/>
          <p:nvPr/>
        </p:nvGraphicFramePr>
        <p:xfrm>
          <a:off x="2292799" y="2080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</a:tblGrid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9" name="Google Shape;159;p17"/>
          <p:cNvGraphicFramePr/>
          <p:nvPr/>
        </p:nvGraphicFramePr>
        <p:xfrm>
          <a:off x="2666242" y="20801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</a:tblGrid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" name="Google Shape;160;p17"/>
          <p:cNvGraphicFramePr/>
          <p:nvPr/>
        </p:nvGraphicFramePr>
        <p:xfrm>
          <a:off x="1910217" y="24520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</a:tblGrid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1" name="Google Shape;161;p17"/>
          <p:cNvGraphicFramePr/>
          <p:nvPr/>
        </p:nvGraphicFramePr>
        <p:xfrm>
          <a:off x="2292167" y="24520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</a:tblGrid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2" name="Google Shape;162;p17"/>
          <p:cNvGraphicFramePr/>
          <p:nvPr/>
        </p:nvGraphicFramePr>
        <p:xfrm>
          <a:off x="2685042" y="24520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</a:tblGrid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  <a:tr h="3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>
                        <a:alpha val="5472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17"/>
          <p:cNvSpPr/>
          <p:nvPr/>
        </p:nvSpPr>
        <p:spPr>
          <a:xfrm>
            <a:off x="59225" y="1841225"/>
            <a:ext cx="1641000" cy="873000"/>
          </a:xfrm>
          <a:prstGeom prst="wedgeRoundRectCallout">
            <a:avLst>
              <a:gd fmla="val 75911" name="adj1"/>
              <a:gd fmla="val -45493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모서리 데이터는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합성곱 계산에 </a:t>
            </a:r>
            <a:r>
              <a:rPr b="1" lang="ko" sz="1100"/>
              <a:t>1번</a:t>
            </a:r>
            <a:r>
              <a:rPr lang="ko" sz="1100"/>
              <a:t>밖에 참여 못함</a:t>
            </a:r>
            <a:endParaRPr sz="1100"/>
          </a:p>
        </p:txBody>
      </p:sp>
      <p:sp>
        <p:nvSpPr>
          <p:cNvPr id="164" name="Google Shape;164;p17"/>
          <p:cNvSpPr/>
          <p:nvPr/>
        </p:nvSpPr>
        <p:spPr>
          <a:xfrm>
            <a:off x="2215350" y="3049100"/>
            <a:ext cx="1641000" cy="566400"/>
          </a:xfrm>
          <a:prstGeom prst="wedgeRoundRectCallout">
            <a:avLst>
              <a:gd fmla="val -9948" name="adj1"/>
              <a:gd fmla="val -147643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중앙 데이터는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합성곱 계산에 </a:t>
            </a:r>
            <a:r>
              <a:rPr b="1" lang="ko" sz="1100"/>
              <a:t>4번</a:t>
            </a:r>
            <a:r>
              <a:rPr lang="ko" sz="1100"/>
              <a:t> 참여</a:t>
            </a:r>
            <a:endParaRPr sz="1100"/>
          </a:p>
        </p:txBody>
      </p:sp>
      <p:sp>
        <p:nvSpPr>
          <p:cNvPr id="165" name="Google Shape;165;p17"/>
          <p:cNvSpPr/>
          <p:nvPr/>
        </p:nvSpPr>
        <p:spPr>
          <a:xfrm>
            <a:off x="756075" y="3780675"/>
            <a:ext cx="1641000" cy="873000"/>
          </a:xfrm>
          <a:prstGeom prst="wedgeRoundRectCallout">
            <a:avLst>
              <a:gd fmla="val 34033" name="adj1"/>
              <a:gd fmla="val -99324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무려 x4 배! 차</a:t>
            </a:r>
            <a:endParaRPr sz="1100"/>
          </a:p>
        </p:txBody>
      </p:sp>
      <p:sp>
        <p:nvSpPr>
          <p:cNvPr id="166" name="Google Shape;166;p17"/>
          <p:cNvSpPr/>
          <p:nvPr/>
        </p:nvSpPr>
        <p:spPr>
          <a:xfrm>
            <a:off x="4107950" y="2718950"/>
            <a:ext cx="1962000" cy="1226700"/>
          </a:xfrm>
          <a:prstGeom prst="wedgeRoundRectCallout">
            <a:avLst>
              <a:gd fmla="val -52147" name="adj1"/>
              <a:gd fmla="val -99674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패딩을 사용하지 않으면 합성곱 계산에 많이 참여하는 원소들도 있고 그렇지 못한 원소들도 발생한다.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/>
        </p:nvSpPr>
        <p:spPr>
          <a:xfrm>
            <a:off x="521150" y="290200"/>
            <a:ext cx="34965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패딩을 사용하는 경우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172" name="Google Shape;172;p18"/>
          <p:cNvGraphicFramePr/>
          <p:nvPr/>
        </p:nvGraphicFramePr>
        <p:xfrm>
          <a:off x="1556875" y="11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graphicFrame>
        <p:nvGraphicFramePr>
          <p:cNvPr id="173" name="Google Shape;173;p18"/>
          <p:cNvGraphicFramePr/>
          <p:nvPr/>
        </p:nvGraphicFramePr>
        <p:xfrm>
          <a:off x="1556875" y="11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" name="Google Shape;174;p18"/>
          <p:cNvGraphicFramePr/>
          <p:nvPr/>
        </p:nvGraphicFramePr>
        <p:xfrm>
          <a:off x="1939725" y="11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Google Shape;175;p18"/>
          <p:cNvGraphicFramePr/>
          <p:nvPr/>
        </p:nvGraphicFramePr>
        <p:xfrm>
          <a:off x="2322575" y="11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6" name="Google Shape;176;p18"/>
          <p:cNvGraphicFramePr/>
          <p:nvPr/>
        </p:nvGraphicFramePr>
        <p:xfrm>
          <a:off x="2705425" y="11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" name="Google Shape;177;p18"/>
          <p:cNvGraphicFramePr/>
          <p:nvPr/>
        </p:nvGraphicFramePr>
        <p:xfrm>
          <a:off x="1556875" y="15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" name="Google Shape;178;p18"/>
          <p:cNvGraphicFramePr/>
          <p:nvPr/>
        </p:nvGraphicFramePr>
        <p:xfrm>
          <a:off x="1939725" y="15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9" name="Google Shape;179;p18"/>
          <p:cNvGraphicFramePr/>
          <p:nvPr/>
        </p:nvGraphicFramePr>
        <p:xfrm>
          <a:off x="2322575" y="15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{99DFC77E-F70A-4ED9-81EE-C84F1117DAA0}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18"/>
          <p:cNvSpPr/>
          <p:nvPr/>
        </p:nvSpPr>
        <p:spPr>
          <a:xfrm>
            <a:off x="173375" y="2693025"/>
            <a:ext cx="1641000" cy="870600"/>
          </a:xfrm>
          <a:prstGeom prst="wedgeRoundRectCallout">
            <a:avLst>
              <a:gd fmla="val 69541" name="adj1"/>
              <a:gd fmla="val -152883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모서리 데이터가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4번</a:t>
            </a:r>
            <a:r>
              <a:rPr lang="ko" sz="1100"/>
              <a:t> 참여한다.</a:t>
            </a:r>
            <a:endParaRPr sz="1100"/>
          </a:p>
        </p:txBody>
      </p:sp>
      <p:sp>
        <p:nvSpPr>
          <p:cNvPr id="181" name="Google Shape;181;p18"/>
          <p:cNvSpPr/>
          <p:nvPr/>
        </p:nvSpPr>
        <p:spPr>
          <a:xfrm>
            <a:off x="2028500" y="3160950"/>
            <a:ext cx="1641000" cy="966900"/>
          </a:xfrm>
          <a:prstGeom prst="wedgeRoundRectCallout">
            <a:avLst>
              <a:gd fmla="val -16391" name="adj1"/>
              <a:gd fmla="val -115548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중앙 데이터는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9번</a:t>
            </a:r>
            <a:r>
              <a:rPr lang="ko" sz="1100"/>
              <a:t> 참여한다.</a:t>
            </a:r>
            <a:endParaRPr sz="1100"/>
          </a:p>
        </p:txBody>
      </p:sp>
      <p:sp>
        <p:nvSpPr>
          <p:cNvPr id="182" name="Google Shape;182;p18"/>
          <p:cNvSpPr/>
          <p:nvPr/>
        </p:nvSpPr>
        <p:spPr>
          <a:xfrm>
            <a:off x="298725" y="4127850"/>
            <a:ext cx="1641000" cy="870600"/>
          </a:xfrm>
          <a:prstGeom prst="wedgeRoundRectCallout">
            <a:avLst>
              <a:gd fmla="val 43569" name="adj1"/>
              <a:gd fmla="val -102553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데이터 참여 격차비율이 많이 줄어든다!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