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Open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7BDC2D-5DB0-465B-9A29-68051F57DE01}">
  <a:tblStyle styleId="{DF7BDC2D-5DB0-465B-9A29-68051F57DE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OpenSans-regular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aeb63c8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aeb63c8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e801058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e801058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1024375" y="36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{DF7BDC2D-5DB0-465B-9A29-68051F57DE01}</a:tableStyleId>
              </a:tblPr>
              <a:tblGrid>
                <a:gridCol w="412925"/>
              </a:tblGrid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px1</a:t>
                      </a:r>
                      <a:endParaRPr sz="900"/>
                    </a:p>
                  </a:txBody>
                  <a:tcPr marT="0" marB="0" marR="0" marL="0" anchor="ctr">
                    <a:noFill/>
                  </a:tcPr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px2</a:t>
                      </a:r>
                      <a:endParaRPr sz="900"/>
                    </a:p>
                  </a:txBody>
                  <a:tcPr marT="0" marB="0" marR="0" marL="0" anchor="ctr">
                    <a:noFill/>
                  </a:tcPr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px3</a:t>
                      </a:r>
                      <a:endParaRPr sz="900"/>
                    </a:p>
                  </a:txBody>
                  <a:tcPr marT="0" marB="0" marR="0" marL="0" anchor="ctr">
                    <a:noFill/>
                  </a:tcPr>
                </a:tc>
              </a:tr>
              <a:tr h="67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.</a:t>
                      </a:r>
                      <a:endParaRPr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.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0" marB="0" marR="0" marL="0" anchor="ctr">
                    <a:noFill/>
                  </a:tcPr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>
                    <a:noFill/>
                  </a:tcPr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0" marB="0" marR="0" marL="0" anchor="ctr">
                    <a:noFill/>
                  </a:tcPr>
                </a:tc>
              </a:tr>
              <a:tr h="525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px784</a:t>
                      </a:r>
                      <a:endParaRPr sz="900"/>
                    </a:p>
                  </a:txBody>
                  <a:tcPr marT="0" marB="0" marR="0" marL="0" anchor="ctr">
                    <a:noFill/>
                  </a:tcPr>
                </a:tc>
              </a:tr>
            </a:tbl>
          </a:graphicData>
        </a:graphic>
      </p:graphicFrame>
      <p:sp>
        <p:nvSpPr>
          <p:cNvPr id="55" name="Google Shape;55;p13"/>
          <p:cNvSpPr/>
          <p:nvPr/>
        </p:nvSpPr>
        <p:spPr>
          <a:xfrm>
            <a:off x="1735050" y="3424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735050" y="9520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735050" y="15616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735050" y="36190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X784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905900" y="2349900"/>
            <a:ext cx="2436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487650" y="8758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487650" y="14854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487650" y="32380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h100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487650" y="2095050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3658500" y="2692050"/>
            <a:ext cx="243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2320350" y="635100"/>
            <a:ext cx="1167300" cy="533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/>
          <p:nvPr/>
        </p:nvCxnSpPr>
        <p:spPr>
          <a:xfrm>
            <a:off x="2320350" y="635100"/>
            <a:ext cx="1167300" cy="1143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>
            <a:off x="2320350" y="635100"/>
            <a:ext cx="1167300" cy="1752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>
            <a:off x="2320350" y="635100"/>
            <a:ext cx="1167300" cy="2895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/>
          <p:nvPr/>
        </p:nvCxnSpPr>
        <p:spPr>
          <a:xfrm flipH="1" rot="10800000">
            <a:off x="2320350" y="1168500"/>
            <a:ext cx="1167300" cy="76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/>
          <p:nvPr/>
        </p:nvCxnSpPr>
        <p:spPr>
          <a:xfrm>
            <a:off x="2320350" y="1244700"/>
            <a:ext cx="1167300" cy="533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2320350" y="1244700"/>
            <a:ext cx="1167300" cy="1143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/>
          <p:nvPr/>
        </p:nvCxnSpPr>
        <p:spPr>
          <a:xfrm>
            <a:off x="2320350" y="1244700"/>
            <a:ext cx="1167300" cy="2286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/>
          <p:nvPr/>
        </p:nvCxnSpPr>
        <p:spPr>
          <a:xfrm flipH="1" rot="10800000">
            <a:off x="2320350" y="1168500"/>
            <a:ext cx="1167300" cy="6858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/>
          <p:nvPr/>
        </p:nvCxnSpPr>
        <p:spPr>
          <a:xfrm flipH="1" rot="10800000">
            <a:off x="2320350" y="1778100"/>
            <a:ext cx="1167300" cy="76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/>
          <p:nvPr/>
        </p:nvCxnSpPr>
        <p:spPr>
          <a:xfrm>
            <a:off x="2320350" y="1854300"/>
            <a:ext cx="1167300" cy="533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/>
          <p:nvPr/>
        </p:nvCxnSpPr>
        <p:spPr>
          <a:xfrm>
            <a:off x="2320350" y="1854300"/>
            <a:ext cx="1167300" cy="1676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/>
          <p:nvPr/>
        </p:nvCxnSpPr>
        <p:spPr>
          <a:xfrm flipH="1" rot="10800000">
            <a:off x="2320350" y="1168500"/>
            <a:ext cx="1167300" cy="2743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 flipH="1" rot="10800000">
            <a:off x="2320350" y="1778100"/>
            <a:ext cx="1167300" cy="2133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/>
          <p:nvPr/>
        </p:nvCxnSpPr>
        <p:spPr>
          <a:xfrm flipH="1" rot="10800000">
            <a:off x="2320350" y="2387700"/>
            <a:ext cx="1167300" cy="1524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/>
          <p:nvPr/>
        </p:nvCxnSpPr>
        <p:spPr>
          <a:xfrm flipH="1" rot="10800000">
            <a:off x="2320350" y="3530700"/>
            <a:ext cx="1167300" cy="381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3"/>
          <p:cNvSpPr/>
          <p:nvPr/>
        </p:nvSpPr>
        <p:spPr>
          <a:xfrm>
            <a:off x="3296325" y="4298550"/>
            <a:ext cx="1925400" cy="549300"/>
          </a:xfrm>
          <a:prstGeom prst="wedgeRoundRectCallout">
            <a:avLst>
              <a:gd fmla="val -17740" name="adj1"/>
              <a:gd fmla="val -8934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은닉층 hidden layer  (100개)</a:t>
            </a:r>
            <a:endParaRPr sz="1700"/>
          </a:p>
        </p:txBody>
      </p:sp>
      <p:sp>
        <p:nvSpPr>
          <p:cNvPr id="82" name="Google Shape;82;p13"/>
          <p:cNvSpPr/>
          <p:nvPr/>
        </p:nvSpPr>
        <p:spPr>
          <a:xfrm>
            <a:off x="1077975" y="4419575"/>
            <a:ext cx="1925400" cy="549300"/>
          </a:xfrm>
          <a:prstGeom prst="wedgeRoundRectCallout">
            <a:avLst>
              <a:gd fmla="val -17740" name="adj1"/>
              <a:gd fmla="val -8934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입력층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(784개)</a:t>
            </a:r>
            <a:endParaRPr sz="1700"/>
          </a:p>
        </p:txBody>
      </p:sp>
      <p:sp>
        <p:nvSpPr>
          <p:cNvPr id="83" name="Google Shape;83;p13"/>
          <p:cNvSpPr/>
          <p:nvPr/>
        </p:nvSpPr>
        <p:spPr>
          <a:xfrm>
            <a:off x="3296325" y="162000"/>
            <a:ext cx="1347600" cy="549300"/>
          </a:xfrm>
          <a:prstGeom prst="wedgeRoundRectCallout">
            <a:avLst>
              <a:gd fmla="val 11010" name="adj1"/>
              <a:gd fmla="val 9568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은닉층 뉴런의 활성화 함수</a:t>
            </a:r>
            <a:endParaRPr sz="1100"/>
          </a:p>
        </p:txBody>
      </p:sp>
      <p:sp>
        <p:nvSpPr>
          <p:cNvPr id="84" name="Google Shape;84;p13"/>
          <p:cNvSpPr/>
          <p:nvPr/>
        </p:nvSpPr>
        <p:spPr>
          <a:xfrm>
            <a:off x="3990975" y="1023300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3990975" y="1559175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990975" y="2204400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990975" y="3385500"/>
            <a:ext cx="243600" cy="2904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468850" y="14854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468850" y="8758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468850" y="20950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468850" y="3009450"/>
            <a:ext cx="585300" cy="5853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639700" y="2539650"/>
            <a:ext cx="243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">
                <a:latin typeface="Open Sans"/>
                <a:ea typeface="Open Sans"/>
                <a:cs typeface="Open Sans"/>
                <a:sym typeface="Open Sans"/>
              </a:rPr>
              <a:t>●</a:t>
            </a:r>
            <a:endParaRPr sz="4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3" name="Google Shape;93;p13"/>
          <p:cNvCxnSpPr/>
          <p:nvPr/>
        </p:nvCxnSpPr>
        <p:spPr>
          <a:xfrm>
            <a:off x="4072950" y="1168500"/>
            <a:ext cx="1395900" cy="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3"/>
          <p:cNvCxnSpPr/>
          <p:nvPr/>
        </p:nvCxnSpPr>
        <p:spPr>
          <a:xfrm>
            <a:off x="4072950" y="1168500"/>
            <a:ext cx="1395900" cy="609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3"/>
          <p:cNvCxnSpPr/>
          <p:nvPr/>
        </p:nvCxnSpPr>
        <p:spPr>
          <a:xfrm>
            <a:off x="4072950" y="1168500"/>
            <a:ext cx="1395900" cy="1219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3"/>
          <p:cNvCxnSpPr/>
          <p:nvPr/>
        </p:nvCxnSpPr>
        <p:spPr>
          <a:xfrm>
            <a:off x="4072950" y="1168500"/>
            <a:ext cx="1395900" cy="2133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3"/>
          <p:cNvCxnSpPr/>
          <p:nvPr/>
        </p:nvCxnSpPr>
        <p:spPr>
          <a:xfrm flipH="1" rot="10800000">
            <a:off x="4072950" y="1168500"/>
            <a:ext cx="1395900" cy="609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/>
          <p:nvPr/>
        </p:nvCxnSpPr>
        <p:spPr>
          <a:xfrm flipH="1" rot="10800000">
            <a:off x="4072950" y="1168500"/>
            <a:ext cx="1395900" cy="1219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/>
          <p:nvPr/>
        </p:nvCxnSpPr>
        <p:spPr>
          <a:xfrm flipH="1" rot="10800000">
            <a:off x="4072950" y="1778100"/>
            <a:ext cx="1395900" cy="609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/>
          <p:nvPr/>
        </p:nvCxnSpPr>
        <p:spPr>
          <a:xfrm>
            <a:off x="4072950" y="2387700"/>
            <a:ext cx="1395900" cy="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/>
          <p:nvPr/>
        </p:nvCxnSpPr>
        <p:spPr>
          <a:xfrm>
            <a:off x="4072950" y="2387700"/>
            <a:ext cx="1395900" cy="9144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/>
          <p:nvPr/>
        </p:nvCxnSpPr>
        <p:spPr>
          <a:xfrm flipH="1" rot="10800000">
            <a:off x="4072950" y="1168500"/>
            <a:ext cx="1395900" cy="23622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3"/>
          <p:cNvCxnSpPr/>
          <p:nvPr/>
        </p:nvCxnSpPr>
        <p:spPr>
          <a:xfrm flipH="1" rot="10800000">
            <a:off x="4072950" y="1778100"/>
            <a:ext cx="1395900" cy="1752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 flipH="1" rot="10800000">
            <a:off x="4072950" y="2387700"/>
            <a:ext cx="1395900" cy="11430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3"/>
          <p:cNvCxnSpPr/>
          <p:nvPr/>
        </p:nvCxnSpPr>
        <p:spPr>
          <a:xfrm flipH="1" rot="10800000">
            <a:off x="4072950" y="3302100"/>
            <a:ext cx="1395900" cy="228600"/>
          </a:xfrm>
          <a:prstGeom prst="straightConnector1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3"/>
          <p:cNvCxnSpPr/>
          <p:nvPr/>
        </p:nvCxnSpPr>
        <p:spPr>
          <a:xfrm flipH="1" rot="10800000">
            <a:off x="6008250" y="1156350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3"/>
          <p:cNvCxnSpPr/>
          <p:nvPr/>
        </p:nvCxnSpPr>
        <p:spPr>
          <a:xfrm flipH="1" rot="10800000">
            <a:off x="6008250" y="1777500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3"/>
          <p:cNvCxnSpPr/>
          <p:nvPr/>
        </p:nvCxnSpPr>
        <p:spPr>
          <a:xfrm flipH="1" rot="10800000">
            <a:off x="6008250" y="2373725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3"/>
          <p:cNvCxnSpPr/>
          <p:nvPr/>
        </p:nvCxnSpPr>
        <p:spPr>
          <a:xfrm flipH="1" rot="10800000">
            <a:off x="6043370" y="3211925"/>
            <a:ext cx="415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3"/>
          <p:cNvSpPr/>
          <p:nvPr/>
        </p:nvSpPr>
        <p:spPr>
          <a:xfrm>
            <a:off x="5514675" y="4298550"/>
            <a:ext cx="2442000" cy="549300"/>
          </a:xfrm>
          <a:prstGeom prst="wedgeRoundRectCallout">
            <a:avLst>
              <a:gd fmla="val -28140" name="adj1"/>
              <a:gd fmla="val -124745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/>
              <a:t>출력층 output layer  (10개의 뉴런)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/>
        </p:nvSpPr>
        <p:spPr>
          <a:xfrm>
            <a:off x="374425" y="206100"/>
            <a:ext cx="34011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</a:rPr>
              <a:t>'기본 경사 하강법' </a:t>
            </a:r>
            <a:r>
              <a:rPr lang="ko" sz="1800">
                <a:solidFill>
                  <a:schemeClr val="dk2"/>
                </a:solidFill>
              </a:rPr>
              <a:t>옵티마이저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958550" y="1330225"/>
            <a:ext cx="698700" cy="26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SGD</a:t>
            </a:r>
            <a:endParaRPr sz="1100"/>
          </a:p>
        </p:txBody>
      </p:sp>
      <p:sp>
        <p:nvSpPr>
          <p:cNvPr id="117" name="Google Shape;117;p14"/>
          <p:cNvSpPr txBox="1"/>
          <p:nvPr/>
        </p:nvSpPr>
        <p:spPr>
          <a:xfrm>
            <a:off x="935175" y="672000"/>
            <a:ext cx="2627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learning_rate=0.001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momentum=0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078375" y="1330225"/>
            <a:ext cx="1229100" cy="41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momentum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optimizer</a:t>
            </a:r>
            <a:endParaRPr sz="1100"/>
          </a:p>
        </p:txBody>
      </p:sp>
      <p:sp>
        <p:nvSpPr>
          <p:cNvPr id="119" name="Google Shape;119;p14"/>
          <p:cNvSpPr/>
          <p:nvPr/>
        </p:nvSpPr>
        <p:spPr>
          <a:xfrm>
            <a:off x="6909250" y="1330225"/>
            <a:ext cx="1229100" cy="59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nesterov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momentum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optimizer</a:t>
            </a:r>
            <a:endParaRPr sz="1100"/>
          </a:p>
        </p:txBody>
      </p:sp>
      <p:sp>
        <p:nvSpPr>
          <p:cNvPr id="120" name="Google Shape;120;p14"/>
          <p:cNvSpPr/>
          <p:nvPr/>
        </p:nvSpPr>
        <p:spPr>
          <a:xfrm>
            <a:off x="1958550" y="3005925"/>
            <a:ext cx="725100" cy="26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RMSprop</a:t>
            </a:r>
            <a:endParaRPr sz="1100"/>
          </a:p>
        </p:txBody>
      </p:sp>
      <p:sp>
        <p:nvSpPr>
          <p:cNvPr id="121" name="Google Shape;121;p14"/>
          <p:cNvSpPr txBox="1"/>
          <p:nvPr/>
        </p:nvSpPr>
        <p:spPr>
          <a:xfrm>
            <a:off x="4017525" y="816300"/>
            <a:ext cx="166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momentum&gt;0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4331925" y="206100"/>
            <a:ext cx="1347600" cy="549300"/>
          </a:xfrm>
          <a:prstGeom prst="wedgeRoundRectCallout">
            <a:avLst>
              <a:gd fmla="val 1441" name="adj1"/>
              <a:gd fmla="val 7688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일반적으로 0.9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이상 </a:t>
            </a:r>
            <a:endParaRPr sz="1100"/>
          </a:p>
        </p:txBody>
      </p:sp>
      <p:sp>
        <p:nvSpPr>
          <p:cNvPr id="123" name="Google Shape;123;p14"/>
          <p:cNvSpPr txBox="1"/>
          <p:nvPr/>
        </p:nvSpPr>
        <p:spPr>
          <a:xfrm>
            <a:off x="6555050" y="914725"/>
            <a:ext cx="166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nesterov=True</a:t>
            </a:r>
            <a:endParaRPr/>
          </a:p>
        </p:txBody>
      </p:sp>
      <p:cxnSp>
        <p:nvCxnSpPr>
          <p:cNvPr id="124" name="Google Shape;124;p14"/>
          <p:cNvCxnSpPr>
            <a:endCxn id="118" idx="1"/>
          </p:cNvCxnSpPr>
          <p:nvPr/>
        </p:nvCxnSpPr>
        <p:spPr>
          <a:xfrm>
            <a:off x="2658175" y="1485775"/>
            <a:ext cx="1420200" cy="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4"/>
          <p:cNvSpPr txBox="1"/>
          <p:nvPr/>
        </p:nvSpPr>
        <p:spPr>
          <a:xfrm>
            <a:off x="374425" y="2106213"/>
            <a:ext cx="34011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</a:rPr>
              <a:t>'적응적 학습률' </a:t>
            </a:r>
            <a:r>
              <a:rPr lang="ko" sz="1800">
                <a:solidFill>
                  <a:schemeClr val="dk2"/>
                </a:solidFill>
              </a:rPr>
              <a:t>옵티마이저</a:t>
            </a:r>
            <a:br>
              <a:rPr lang="ko" sz="1800">
                <a:solidFill>
                  <a:schemeClr val="dk2"/>
                </a:solidFill>
              </a:rPr>
            </a:br>
            <a:r>
              <a:rPr lang="ko" sz="1300">
                <a:solidFill>
                  <a:schemeClr val="dk2"/>
                </a:solidFill>
              </a:rPr>
              <a:t>Adaptive learning rate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26" name="Google Shape;126;p14"/>
          <p:cNvCxnSpPr/>
          <p:nvPr/>
        </p:nvCxnSpPr>
        <p:spPr>
          <a:xfrm>
            <a:off x="5398263" y="1600375"/>
            <a:ext cx="1420200" cy="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4"/>
          <p:cNvSpPr txBox="1"/>
          <p:nvPr/>
        </p:nvSpPr>
        <p:spPr>
          <a:xfrm>
            <a:off x="1199325" y="2571750"/>
            <a:ext cx="229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learning_rate=0.001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1971825" y="3581625"/>
            <a:ext cx="725100" cy="26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Adagrad</a:t>
            </a:r>
            <a:endParaRPr sz="1100"/>
          </a:p>
        </p:txBody>
      </p:sp>
      <p:sp>
        <p:nvSpPr>
          <p:cNvPr id="129" name="Google Shape;129;p14"/>
          <p:cNvSpPr/>
          <p:nvPr/>
        </p:nvSpPr>
        <p:spPr>
          <a:xfrm>
            <a:off x="4168350" y="3005925"/>
            <a:ext cx="725100" cy="26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Adam</a:t>
            </a:r>
            <a:endParaRPr sz="1100"/>
          </a:p>
        </p:txBody>
      </p:sp>
      <p:cxnSp>
        <p:nvCxnSpPr>
          <p:cNvPr id="130" name="Google Shape;130;p14"/>
          <p:cNvCxnSpPr>
            <a:stCxn id="118" idx="2"/>
            <a:endCxn id="129" idx="0"/>
          </p:cNvCxnSpPr>
          <p:nvPr/>
        </p:nvCxnSpPr>
        <p:spPr>
          <a:xfrm flipH="1">
            <a:off x="4530925" y="1745725"/>
            <a:ext cx="162000" cy="12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4"/>
          <p:cNvCxnSpPr>
            <a:endCxn id="129" idx="1"/>
          </p:cNvCxnSpPr>
          <p:nvPr/>
        </p:nvCxnSpPr>
        <p:spPr>
          <a:xfrm>
            <a:off x="2749350" y="3124275"/>
            <a:ext cx="14190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