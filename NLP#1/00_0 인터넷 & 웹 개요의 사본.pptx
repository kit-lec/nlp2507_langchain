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6858000" cy="9144000"/>
  <p:embeddedFontLst>
    <p:embeddedFont>
      <p:font typeface="Ubuntu"/>
      <p:regular r:id="rId36"/>
      <p:bold r:id="rId37"/>
      <p:italic r:id="rId38"/>
      <p:boldItalic r:id="rId39"/>
    </p:embeddedFont>
    <p:embeddedFont>
      <p:font typeface="PT Sans Narrow"/>
      <p:regular r:id="rId40"/>
      <p:bold r:id="rId41"/>
    </p:embeddedFont>
    <p:embeddedFont>
      <p:font typeface="Roboto Mono"/>
      <p:regular r:id="rId42"/>
      <p:bold r:id="rId43"/>
      <p:italic r:id="rId44"/>
      <p:boldItalic r:id="rId45"/>
    </p:embeddedFont>
    <p:embeddedFont>
      <p:font typeface="Open Sans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33FCC44-5095-4EFF-96A3-F47EEC7053C7}">
  <a:tblStyle styleId="{A33FCC44-5095-4EFF-96A3-F47EEC7053C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4EB3DB3B-0DDC-4309-9B61-FAA00DC575C3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TSansNarrow-regular.fntdata"/><Relationship Id="rId42" Type="http://schemas.openxmlformats.org/officeDocument/2006/relationships/font" Target="fonts/RobotoMono-regular.fntdata"/><Relationship Id="rId41" Type="http://schemas.openxmlformats.org/officeDocument/2006/relationships/font" Target="fonts/PTSansNarrow-bold.fntdata"/><Relationship Id="rId44" Type="http://schemas.openxmlformats.org/officeDocument/2006/relationships/font" Target="fonts/RobotoMono-italic.fntdata"/><Relationship Id="rId43" Type="http://schemas.openxmlformats.org/officeDocument/2006/relationships/font" Target="fonts/RobotoMono-bold.fntdata"/><Relationship Id="rId46" Type="http://schemas.openxmlformats.org/officeDocument/2006/relationships/font" Target="fonts/OpenSans-regular.fntdata"/><Relationship Id="rId45" Type="http://schemas.openxmlformats.org/officeDocument/2006/relationships/font" Target="fonts/RobotoMono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OpenSans-italic.fntdata"/><Relationship Id="rId47" Type="http://schemas.openxmlformats.org/officeDocument/2006/relationships/font" Target="fonts/OpenSans-bold.fntdata"/><Relationship Id="rId49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font" Target="fonts/Ubuntu-bold.fntdata"/><Relationship Id="rId36" Type="http://schemas.openxmlformats.org/officeDocument/2006/relationships/font" Target="fonts/Ubuntu-regular.fntdata"/><Relationship Id="rId39" Type="http://schemas.openxmlformats.org/officeDocument/2006/relationships/font" Target="fonts/Ubuntu-boldItalic.fntdata"/><Relationship Id="rId38" Type="http://schemas.openxmlformats.org/officeDocument/2006/relationships/font" Target="fonts/Ubuntu-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ahahoho5915.tistory.com/62" TargetMode="Externa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gnaseel.tistory.com/24" TargetMode="Externa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5c53167de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5c53167de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7cbb9d886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7cbb9d886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7cbb9d886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7cbb9d886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7cbb9d886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7cbb9d886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7cbb9d886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7cbb9d886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7cbb9d886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7cbb9d886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7cbb9d886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7cbb9d886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7cbb9d886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7cbb9d886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7cbb9d886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7cbb9d886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7cbb9d886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7cbb9d886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5c53167d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5c53167d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284c50323a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284c50323a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7cbb9d886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7cbb9d886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7cbb9d886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7cbb9d886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cbb9d886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cbb9d886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7cbb9d886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7cbb9d886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7cbb9d886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7cbb9d886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1460a34dfb_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11460a34dfb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7cbb9d886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7cbb9d886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7cb7ab15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7cb7ab15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284c50323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284c50323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출처 : </a:t>
            </a:r>
            <a:r>
              <a:rPr lang="ko" u="sng">
                <a:solidFill>
                  <a:schemeClr val="hlink"/>
                </a:solidFill>
                <a:hlinkClick r:id="rId2"/>
              </a:rPr>
              <a:t>https://hahahoho5915.tistory.com/62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284c50323a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284c50323a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출처 : </a:t>
            </a:r>
            <a:r>
              <a:rPr lang="ko" u="sng">
                <a:solidFill>
                  <a:schemeClr val="hlink"/>
                </a:solidFill>
                <a:hlinkClick r:id="rId2"/>
              </a:rPr>
              <a:t>https://gnaseel.tistory.com/24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284c50323a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284c50323a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284c50323a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284c50323a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28a6334a9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228a6334a9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284c50323a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284c50323a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7cbb9d886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7cbb9d886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7cbb9d886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27cbb9d886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7cbb9d886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27cbb9d886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11.png"/><Relationship Id="rId6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Relationship Id="rId4" Type="http://schemas.openxmlformats.org/officeDocument/2006/relationships/image" Target="../media/image18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info.cern.ch/hypertext/WWW/TheProject.html" TargetMode="External"/><Relationship Id="rId4" Type="http://schemas.openxmlformats.org/officeDocument/2006/relationships/hyperlink" Target="https://www.w3.org/" TargetMode="External"/><Relationship Id="rId9" Type="http://schemas.openxmlformats.org/officeDocument/2006/relationships/image" Target="../media/image19.png"/><Relationship Id="rId5" Type="http://schemas.openxmlformats.org/officeDocument/2006/relationships/hyperlink" Target="https://www.w3.org/" TargetMode="External"/><Relationship Id="rId6" Type="http://schemas.openxmlformats.org/officeDocument/2006/relationships/hyperlink" Target="https://www.youtube.com/watch?v=UMNFehJIi0E" TargetMode="External"/><Relationship Id="rId7" Type="http://schemas.openxmlformats.org/officeDocument/2006/relationships/image" Target="../media/image7.png"/><Relationship Id="rId8" Type="http://schemas.openxmlformats.org/officeDocument/2006/relationships/hyperlink" Target="https://www.youtube.com/watch?v=UMNFehJIi0E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://www.codedragon.com/" TargetMode="External"/><Relationship Id="rId4" Type="http://schemas.openxmlformats.org/officeDocument/2006/relationships/hyperlink" Target="http://www.codedragon.com/" TargetMode="External"/><Relationship Id="rId5" Type="http://schemas.openxmlformats.org/officeDocument/2006/relationships/hyperlink" Target="http://www.codedragon.com/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Relationship Id="rId6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developer.mozilla.org/ko/docs/Web/HTTP/Methods" TargetMode="External"/><Relationship Id="rId4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developer.mozilla.org/ko/docs/Web/HTTP/Status" TargetMode="External"/><Relationship Id="rId4" Type="http://schemas.openxmlformats.org/officeDocument/2006/relationships/hyperlink" Target="https://developer.mozilla.org/en-US/docs/Web/HTTP/Status#information_responses" TargetMode="External"/><Relationship Id="rId5" Type="http://schemas.openxmlformats.org/officeDocument/2006/relationships/hyperlink" Target="https://developer.mozilla.org/en-US/docs/Web/HTTP/Status#successful_responses" TargetMode="External"/><Relationship Id="rId6" Type="http://schemas.openxmlformats.org/officeDocument/2006/relationships/hyperlink" Target="https://developer.mozilla.org/en-US/docs/Web/HTTP/Status#redirection_messages" TargetMode="External"/><Relationship Id="rId7" Type="http://schemas.openxmlformats.org/officeDocument/2006/relationships/hyperlink" Target="https://developer.mozilla.org/en-US/docs/Web/HTTP/Status#client_error_responses" TargetMode="External"/><Relationship Id="rId8" Type="http://schemas.openxmlformats.org/officeDocument/2006/relationships/hyperlink" Target="https://developer.mozilla.org/en-US/docs/Web/HTTP/Status#server_error_responses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developer.mozilla.org/ko/docs/Web/HTTP/Basics_of_HTTP/MIME_types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인터넷, 웹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딱 요만큼만 알고 시작합시다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인터넷 (Internet)</a:t>
            </a:r>
            <a:endParaRPr/>
          </a:p>
        </p:txBody>
      </p:sp>
      <p:sp>
        <p:nvSpPr>
          <p:cNvPr id="73" name="Google Shape;73;p14"/>
          <p:cNvSpPr txBox="1"/>
          <p:nvPr>
            <p:ph idx="4294967295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ko" sz="20000"/>
              <a:t>?</a:t>
            </a:r>
            <a:endParaRPr sz="20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네크워크 (Network) </a:t>
            </a:r>
            <a:endParaRPr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311700" y="1266325"/>
            <a:ext cx="7414800" cy="8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ko"/>
              <a:t>컴퓨터 와 컴퓨터가 연결되어 컴퓨터의 자원 (데이터, 장치 등)을 공유하며 작업할수 있는 기술및 연결형태 </a:t>
            </a:r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8400" y="2304525"/>
            <a:ext cx="1798900" cy="135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150" y="2248125"/>
            <a:ext cx="1673775" cy="204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57075" y="2248125"/>
            <a:ext cx="1726400" cy="198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31774" y="2165323"/>
            <a:ext cx="1996775" cy="204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인터넷 (Inter-net) 이란?</a:t>
            </a:r>
            <a:endParaRPr/>
          </a:p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311700" y="1266325"/>
            <a:ext cx="2220600" cy="13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b="1" lang="ko"/>
              <a:t>Inter -networking</a:t>
            </a:r>
            <a:r>
              <a:rPr lang="ko"/>
              <a:t> </a:t>
            </a:r>
            <a:br>
              <a:rPr lang="ko"/>
            </a:br>
            <a:r>
              <a:rPr lang="ko"/>
              <a:t> 즉,  ‘네트워크’ 간 통신 기술 및 연결 </a:t>
            </a:r>
            <a:endParaRPr/>
          </a:p>
        </p:txBody>
      </p:sp>
      <p:pic>
        <p:nvPicPr>
          <p:cNvPr id="90" name="Google Shape;9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7492" y="1076225"/>
            <a:ext cx="5110711" cy="383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인터넷?  </a:t>
            </a:r>
            <a:endParaRPr/>
          </a:p>
        </p:txBody>
      </p:sp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1969년 미국 국방부 에 의해 개발된 기술 ( 최초 코드명을 알파넷 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ko"/>
              <a:t>전쟁시..   특히 핵전쟁시 네트워크간의 물리적인 라인이 손상이 되어도, 통신이 끊기지 않아야 될 필요성 때문에 개발됨..</a:t>
            </a:r>
            <a:br>
              <a:rPr lang="ko"/>
            </a:br>
            <a:br>
              <a:rPr lang="ko"/>
            </a:br>
            <a:r>
              <a:rPr lang="ko"/>
              <a:t>TCP/IP 프로토콜 기반으로 전세계 수많은 네트워크들이 연결된 광범위 통신망.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311700" y="216425"/>
            <a:ext cx="8884500" cy="6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3000"/>
              <a:t>인터넷을 연결하는 장비:  </a:t>
            </a:r>
            <a:r>
              <a:rPr lang="ko" sz="3000"/>
              <a:t>어떻게 끊기지 않고 연결? </a:t>
            </a:r>
            <a:endParaRPr sz="3000"/>
          </a:p>
        </p:txBody>
      </p:sp>
      <p:sp>
        <p:nvSpPr>
          <p:cNvPr id="102" name="Google Shape;102;p18"/>
          <p:cNvSpPr txBox="1"/>
          <p:nvPr>
            <p:ph idx="1" type="body"/>
          </p:nvPr>
        </p:nvSpPr>
        <p:spPr>
          <a:xfrm>
            <a:off x="311700" y="885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400"/>
              <a:t>컴퓨터와 컴퓨터는 </a:t>
            </a:r>
            <a:r>
              <a:rPr b="1" lang="ko" sz="1400">
                <a:solidFill>
                  <a:srgbClr val="0000FF"/>
                </a:solidFill>
              </a:rPr>
              <a:t>허브(herb)</a:t>
            </a:r>
            <a:r>
              <a:rPr lang="ko" sz="1400"/>
              <a:t> 장비를 통해 연결가능. 즉 네트워크 형성 가능.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ko" sz="1400"/>
              <a:t>네트워크안에서 </a:t>
            </a:r>
            <a:r>
              <a:rPr b="1" lang="ko" sz="1400">
                <a:solidFill>
                  <a:srgbClr val="0000FF"/>
                </a:solidFill>
              </a:rPr>
              <a:t>라우터(router)</a:t>
            </a:r>
            <a:r>
              <a:rPr lang="ko" sz="1400"/>
              <a:t> 라는 장비가 있는데, 이를 통해 네트워크내 근접한 다른 라우터 간의 통신이 가능하게 함.  그 뿐 아니라 다른 네트워크의 라우터와도 연결이 된다!!!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ko" sz="1400"/>
              <a:t>라우터는 통신 경로를 저장하고 있고,  그 경로를 수시로 업데이트 하고,</a:t>
            </a:r>
            <a:br>
              <a:rPr lang="ko" sz="1400"/>
            </a:br>
            <a:r>
              <a:rPr lang="ko" sz="1400"/>
              <a:t>통신 경로가 막히면,  새로운 경로를 찾는다. (그래서 끊기지 않는다)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ko" sz="1400"/>
              <a:t>라우터를 통하여  비로서 네트워크에서 벗어나, 인터넷의 세상에 연결됨.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ko" sz="1400"/>
              <a:t>당연히 라우터와 라우터 간은 물리적으로 연결되어 있어야 하고,  다른 라우터로 나아가는 라우터를 </a:t>
            </a:r>
            <a:r>
              <a:rPr b="1" lang="ko" sz="1400">
                <a:solidFill>
                  <a:srgbClr val="0000FF"/>
                </a:solidFill>
              </a:rPr>
              <a:t>게이트웨이(Gateway)</a:t>
            </a:r>
            <a:r>
              <a:rPr lang="ko" sz="1400"/>
              <a:t> 라고 함.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ko" sz="1400">
                <a:solidFill>
                  <a:srgbClr val="0000FF"/>
                </a:solidFill>
              </a:rPr>
              <a:t>브릿지(bridge)</a:t>
            </a:r>
            <a:r>
              <a:rPr lang="ko" sz="1400"/>
              <a:t>  :  동종, 혹은 타 프로토콜 사용하는 네트워크간 연결하는 장비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235500" y="4458775"/>
            <a:ext cx="7758900" cy="467400"/>
          </a:xfrm>
          <a:prstGeom prst="rect">
            <a:avLst/>
          </a:prstGeom>
          <a:solidFill>
            <a:srgbClr val="CFE2F3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ko"/>
              <a:t>가정용 공유기에서는 공유기  허브 + 라우터 + 게이트웨이  역할 담당..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인터넷을 구성하는 요소:  </a:t>
            </a:r>
            <a:r>
              <a:rPr lang="ko"/>
              <a:t>프로토콜 ...</a:t>
            </a:r>
            <a:endParaRPr/>
          </a:p>
        </p:txBody>
      </p:sp>
      <p:sp>
        <p:nvSpPr>
          <p:cNvPr id="109" name="Google Shape;109;p19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ko"/>
              <a:t>네트워킹, 인터넷 에선 다양한 분야에서 </a:t>
            </a:r>
            <a:r>
              <a:rPr b="1" lang="ko">
                <a:solidFill>
                  <a:srgbClr val="0000FF"/>
                </a:solidFill>
              </a:rPr>
              <a:t>‘프로토콜(Protocol)’</a:t>
            </a:r>
            <a:r>
              <a:rPr lang="ko"/>
              <a:t> 이란 말이 등장한다.  </a:t>
            </a:r>
            <a:br>
              <a:rPr lang="ko"/>
            </a:br>
            <a:r>
              <a:rPr lang="ko"/>
              <a:t>서로 데이터를 주고 받을때,  정해진 ‘약속’ 에 따라 주고 받아야 하고, 바로 그러한 ‘약속’이 곧 프로토콜 입니다.</a:t>
            </a:r>
            <a:br>
              <a:rPr lang="ko"/>
            </a:br>
            <a:br>
              <a:rPr lang="ko"/>
            </a:br>
            <a:r>
              <a:rPr lang="ko"/>
              <a:t>다양한 영역에서의 다양한 프로토콜 이름이 등장하는데...</a:t>
            </a:r>
            <a:br>
              <a:rPr lang="ko"/>
            </a:br>
            <a:r>
              <a:rPr lang="ko"/>
              <a:t>인터넷상의 데이터 전송은 </a:t>
            </a:r>
            <a:r>
              <a:rPr b="1" lang="ko">
                <a:solidFill>
                  <a:srgbClr val="0000FF"/>
                </a:solidFill>
              </a:rPr>
              <a:t>TCP/IP</a:t>
            </a:r>
            <a:r>
              <a:rPr lang="ko"/>
              <a:t> 란 프로토콜을 사용하고</a:t>
            </a:r>
            <a:br>
              <a:rPr lang="ko"/>
            </a:br>
            <a:r>
              <a:rPr lang="ko"/>
              <a:t>웹문서는 </a:t>
            </a:r>
            <a:r>
              <a:rPr b="1" lang="ko">
                <a:solidFill>
                  <a:srgbClr val="0000FF"/>
                </a:solidFill>
              </a:rPr>
              <a:t>HTTP </a:t>
            </a:r>
            <a:r>
              <a:rPr lang="ko"/>
              <a:t>라는 프로토콜을 사용합니다.</a:t>
            </a:r>
            <a:br>
              <a:rPr lang="ko"/>
            </a:br>
            <a:br>
              <a:rPr lang="ko"/>
            </a:br>
            <a:r>
              <a:rPr lang="ko"/>
              <a:t>차이점은? (비유)</a:t>
            </a:r>
            <a:br>
              <a:rPr lang="ko"/>
            </a:br>
            <a:r>
              <a:rPr lang="ko"/>
              <a:t>HTTP     -----      컨테이너 규격및 하역 규칙.</a:t>
            </a:r>
            <a:br>
              <a:rPr lang="ko"/>
            </a:br>
            <a:r>
              <a:rPr lang="ko"/>
              <a:t>TCP/IP    -----     화물선 항해  규정, 규칙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66650" y="656725"/>
            <a:ext cx="2478800" cy="169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-1217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인터넷을 구성하는 요소:  IP 주소 </a:t>
            </a:r>
            <a:endParaRPr/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311700" y="504325"/>
            <a:ext cx="8520600" cy="8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ko"/>
              <a:t>Ip 주소 :    각 컴퓨터및 인터넷에 접속된 기기들은 자신만의 고유한 주소가 필요하다.   현재 4byte</a:t>
            </a:r>
            <a:r>
              <a:rPr b="1" lang="ko"/>
              <a:t>(32bit) 체제 </a:t>
            </a:r>
            <a:r>
              <a:rPr b="1" lang="ko">
                <a:solidFill>
                  <a:srgbClr val="0000FF"/>
                </a:solidFill>
              </a:rPr>
              <a:t>IPv4 </a:t>
            </a:r>
            <a:r>
              <a:rPr lang="ko"/>
              <a:t> 규격의 주소 사용…  </a:t>
            </a:r>
            <a:endParaRPr/>
          </a:p>
        </p:txBody>
      </p:sp>
      <p:pic>
        <p:nvPicPr>
          <p:cNvPr id="117" name="Google Shape;11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7250" y="2469907"/>
            <a:ext cx="4126749" cy="1871818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0"/>
          <p:cNvSpPr txBox="1"/>
          <p:nvPr/>
        </p:nvSpPr>
        <p:spPr>
          <a:xfrm>
            <a:off x="143875" y="4060425"/>
            <a:ext cx="8434200" cy="83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b="1"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IPv6</a:t>
            </a:r>
            <a:r>
              <a:rPr b="1" lang="ko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(128bit)</a:t>
            </a:r>
            <a:r>
              <a:rPr lang="ko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 : 주소부족 문제해결을 위해 등장</a:t>
            </a:r>
            <a:br>
              <a:rPr lang="ko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ko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ko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NIC (Network Information Center) 라는 기구에서 관장.</a:t>
            </a:r>
            <a:br>
              <a:rPr lang="ko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ko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대륙별, 국가별로 관리기관에서 하부 관리 맡음 (한국은 ‘한국인터넷진흥원’)   </a:t>
            </a:r>
            <a:endParaRPr/>
          </a:p>
        </p:txBody>
      </p:sp>
      <p:pic>
        <p:nvPicPr>
          <p:cNvPr id="119" name="Google Shape;11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000" y="1291101"/>
            <a:ext cx="5971875" cy="135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type="title"/>
          </p:nvPr>
        </p:nvSpPr>
        <p:spPr>
          <a:xfrm>
            <a:off x="311700" y="64025"/>
            <a:ext cx="8520600" cy="4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도메인 이름 (Domain Name) </a:t>
            </a:r>
            <a:endParaRPr/>
          </a:p>
        </p:txBody>
      </p:sp>
      <p:sp>
        <p:nvSpPr>
          <p:cNvPr id="125" name="Google Shape;125;p21"/>
          <p:cNvSpPr txBox="1"/>
          <p:nvPr>
            <p:ph idx="1" type="body"/>
          </p:nvPr>
        </p:nvSpPr>
        <p:spPr>
          <a:xfrm>
            <a:off x="311700" y="710888"/>
            <a:ext cx="8520600" cy="19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ko"/>
              <a:t>IP 이름을 기억하기 어렵다.   그래서</a:t>
            </a:r>
            <a:br>
              <a:rPr lang="ko"/>
            </a:br>
            <a:r>
              <a:rPr lang="ko"/>
              <a:t>IP 주소  &lt;----&gt;   문자   로 대체 할수 있게 함.</a:t>
            </a:r>
            <a:br>
              <a:rPr lang="ko"/>
            </a:br>
            <a:r>
              <a:rPr lang="ko"/>
              <a:t>문자화된 주소를 </a:t>
            </a:r>
            <a:r>
              <a:rPr b="1" lang="ko">
                <a:solidFill>
                  <a:srgbClr val="0000FF"/>
                </a:solidFill>
              </a:rPr>
              <a:t>도메인 이름</a:t>
            </a:r>
            <a:r>
              <a:rPr lang="ko"/>
              <a:t>  이라 함</a:t>
            </a:r>
            <a:br>
              <a:rPr lang="ko"/>
            </a:br>
            <a:r>
              <a:rPr lang="ko"/>
              <a:t>도메인 이름을 운영하려면 인터넷 상에서 IP 주소와 도메인 이름 를 매칭시키고 기억해야 하는데, 이 역할을 하는 것이 바로 </a:t>
            </a:r>
            <a:r>
              <a:rPr b="1" lang="ko">
                <a:solidFill>
                  <a:srgbClr val="0000FF"/>
                </a:solidFill>
              </a:rPr>
              <a:t>‘도메인 네임 서버 (DNS)’</a:t>
            </a:r>
            <a:r>
              <a:rPr lang="ko"/>
              <a:t> 다</a:t>
            </a:r>
            <a:endParaRPr/>
          </a:p>
        </p:txBody>
      </p:sp>
      <p:pic>
        <p:nvPicPr>
          <p:cNvPr id="126" name="Google Shape;12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6974" y="2496125"/>
            <a:ext cx="3840575" cy="257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DHCP : 내 컴퓨터 IP 는 누가 정해줬나?</a:t>
            </a:r>
            <a:endParaRPr/>
          </a:p>
        </p:txBody>
      </p:sp>
      <p:sp>
        <p:nvSpPr>
          <p:cNvPr id="132" name="Google Shape;132;p22"/>
          <p:cNvSpPr txBox="1"/>
          <p:nvPr>
            <p:ph idx="1" type="body"/>
          </p:nvPr>
        </p:nvSpPr>
        <p:spPr>
          <a:xfrm>
            <a:off x="311700" y="1037725"/>
            <a:ext cx="77589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ko"/>
              <a:t>네트워크 내에 접속된 컴퓨터는 DHCP 서버가 IP 를 자동 할당해준다. </a:t>
            </a:r>
            <a:br>
              <a:rPr lang="ko"/>
            </a:br>
            <a:r>
              <a:rPr lang="ko"/>
              <a:t>일반적으로는 DHCP 서버에서 제공되는 IP 를 받지만,  경우에 따라선 고정 IP 가능.</a:t>
            </a:r>
            <a:endParaRPr/>
          </a:p>
        </p:txBody>
      </p:sp>
      <p:pic>
        <p:nvPicPr>
          <p:cNvPr id="133" name="Google Shape;13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4575" y="1757500"/>
            <a:ext cx="5007023" cy="257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2"/>
          <p:cNvSpPr txBox="1"/>
          <p:nvPr>
            <p:ph idx="1" type="body"/>
          </p:nvPr>
        </p:nvSpPr>
        <p:spPr>
          <a:xfrm>
            <a:off x="235500" y="4534975"/>
            <a:ext cx="7758900" cy="467400"/>
          </a:xfrm>
          <a:prstGeom prst="rect">
            <a:avLst/>
          </a:prstGeom>
          <a:solidFill>
            <a:srgbClr val="CFE2F3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ko"/>
              <a:t>가정용 공유기에서는 공유기가 이 역할도 담당..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/>
          <p:nvPr>
            <p:ph type="title"/>
          </p:nvPr>
        </p:nvSpPr>
        <p:spPr>
          <a:xfrm>
            <a:off x="311700" y="1402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내 컴퓨터 ip , gateway, DNS, DHCP  확인해보자.  </a:t>
            </a:r>
            <a:endParaRPr/>
          </a:p>
        </p:txBody>
      </p:sp>
      <p:sp>
        <p:nvSpPr>
          <p:cNvPr id="140" name="Google Shape;140;p23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ko"/>
              <a:t>&gt; ipconfig /all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웹(WWW)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웹 기술 기본 용어</a:t>
            </a:r>
            <a:endParaRPr/>
          </a:p>
        </p:txBody>
      </p:sp>
      <p:sp>
        <p:nvSpPr>
          <p:cNvPr id="151" name="Google Shape;151;p2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Client , Server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Port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URI, (Url)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Request, Response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Request Method (Http verb.)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Response Status Code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MIME type (content type)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title"/>
          </p:nvPr>
        </p:nvSpPr>
        <p:spPr>
          <a:xfrm>
            <a:off x="311700" y="140225"/>
            <a:ext cx="8520600" cy="707400"/>
          </a:xfrm>
          <a:prstGeom prst="rect">
            <a:avLst/>
          </a:prstGeom>
          <a:solidFill>
            <a:srgbClr val="FFFF00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웹 (World Wide Web)?</a:t>
            </a:r>
            <a:endParaRPr/>
          </a:p>
        </p:txBody>
      </p:sp>
      <p:sp>
        <p:nvSpPr>
          <p:cNvPr id="157" name="Google Shape;157;p26"/>
          <p:cNvSpPr txBox="1"/>
          <p:nvPr>
            <p:ph idx="1" type="body"/>
          </p:nvPr>
        </p:nvSpPr>
        <p:spPr>
          <a:xfrm>
            <a:off x="311700" y="809125"/>
            <a:ext cx="8520600" cy="13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1989년 유럽 입자 물리 연구소(cern) 팀 버너스리(Tim Berners-Lee) 경에 의해 개발.</a:t>
            </a:r>
            <a:br>
              <a:rPr lang="ko"/>
            </a:br>
            <a:r>
              <a:rPr lang="ko"/>
              <a:t>인터넷 기술을 사용해서, 세계 대학, 연구소 끼리 연구 교환 목적으로 문서,소리,동영상을 주고 받을수 있는 전자 문서 소프트웨어.</a:t>
            </a:r>
            <a:br>
              <a:rPr lang="ko"/>
            </a:b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br>
              <a:rPr lang="ko"/>
            </a:br>
            <a:br>
              <a:rPr lang="ko"/>
            </a:br>
            <a:br>
              <a:rPr lang="ko"/>
            </a:br>
            <a:r>
              <a:rPr lang="ko"/>
              <a:t>역사적인 첫 웹 페이지 : </a:t>
            </a:r>
            <a:r>
              <a:rPr lang="ko" u="sng">
                <a:solidFill>
                  <a:schemeClr val="hlink"/>
                </a:solidFill>
                <a:hlinkClick r:id="rId3"/>
              </a:rPr>
              <a:t>http://info.cern.ch/hypertext/WWW/TheProject.html</a:t>
            </a:r>
            <a:br>
              <a:rPr lang="ko"/>
            </a:br>
            <a:r>
              <a:rPr lang="ko"/>
              <a:t>웹기술및 표준  관리 : </a:t>
            </a:r>
            <a:r>
              <a:rPr lang="ko" sz="1350" u="sng">
                <a:solidFill>
                  <a:srgbClr val="660099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World Wide Web Consortium (W3C)</a:t>
            </a:r>
            <a:endParaRPr sz="1350" u="sng">
              <a:solidFill>
                <a:srgbClr val="660099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  <a:hlinkClick r:id="rId5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58" name="Google Shape;158;p26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21988" y="2375875"/>
            <a:ext cx="2886075" cy="158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6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435125" y="2371100"/>
            <a:ext cx="2428507" cy="1581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6"/>
          <p:cNvSpPr/>
          <p:nvPr/>
        </p:nvSpPr>
        <p:spPr>
          <a:xfrm>
            <a:off x="7667200" y="2852200"/>
            <a:ext cx="978000" cy="551100"/>
          </a:xfrm>
          <a:prstGeom prst="wedgeRoundRectCallout">
            <a:avLst>
              <a:gd fmla="val -91670" name="adj1"/>
              <a:gd fmla="val -14584" name="adj2"/>
              <a:gd fmla="val 0" name="adj3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영상클릭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웹 을 특징짓는 구성 요소 </a:t>
            </a:r>
            <a:endParaRPr/>
          </a:p>
        </p:txBody>
      </p:sp>
      <p:sp>
        <p:nvSpPr>
          <p:cNvPr id="166" name="Google Shape;166;p2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ko"/>
              <a:t>하이퍼링크 </a:t>
            </a:r>
            <a:r>
              <a:rPr b="1" lang="ko">
                <a:solidFill>
                  <a:srgbClr val="0000FF"/>
                </a:solidFill>
              </a:rPr>
              <a:t>Hyper Link</a:t>
            </a:r>
            <a:r>
              <a:rPr b="1" lang="ko"/>
              <a:t> , 하이퍼 텍스트  Hyper Text</a:t>
            </a:r>
            <a:br>
              <a:rPr lang="ko"/>
            </a:br>
            <a:r>
              <a:rPr lang="ko"/>
              <a:t>학술자료 교환이 목적이라,  ‘인용’ 을 전자식으로 구현…</a:t>
            </a:r>
            <a:br>
              <a:rPr lang="ko"/>
            </a:br>
            <a:r>
              <a:rPr lang="ko"/>
              <a:t>현대 웹페이지의 가장 큰 기술적 근간이 됨.</a:t>
            </a:r>
            <a:br>
              <a:rPr lang="ko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웹 상의 자원의 위치 지정 방법 통일 </a:t>
            </a:r>
            <a:br>
              <a:rPr lang="ko"/>
            </a:br>
            <a:r>
              <a:rPr lang="ko"/>
              <a:t>( </a:t>
            </a:r>
            <a:r>
              <a:rPr b="1" lang="ko">
                <a:solidFill>
                  <a:srgbClr val="0000FF"/>
                </a:solidFill>
              </a:rPr>
              <a:t>URL </a:t>
            </a:r>
            <a:r>
              <a:rPr b="1" lang="ko"/>
              <a:t>: Uniform Resource Locator</a:t>
            </a:r>
            <a:r>
              <a:rPr lang="ko"/>
              <a:t>  ← </a:t>
            </a:r>
            <a:r>
              <a:rPr lang="ko" sz="1400"/>
              <a:t>흔히 인터넷 주소 라고 알고 있는 그거!</a:t>
            </a:r>
            <a:r>
              <a:rPr lang="ko"/>
              <a:t>)</a:t>
            </a:r>
            <a:br>
              <a:rPr lang="ko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웹 상의 자원 이름에 접근하는 프로토콜 ( 예 : </a:t>
            </a:r>
            <a:r>
              <a:rPr b="1" lang="ko">
                <a:solidFill>
                  <a:srgbClr val="0000FF"/>
                </a:solidFill>
              </a:rPr>
              <a:t>http</a:t>
            </a:r>
            <a:r>
              <a:rPr b="1" lang="ko"/>
              <a:t> </a:t>
            </a:r>
            <a:r>
              <a:rPr lang="ko"/>
              <a:t>)</a:t>
            </a:r>
            <a:br>
              <a:rPr lang="ko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ko"/>
              <a:t>웹 상의 자원들 사이를 쉽게 이동(navigate) 할수 있는 언어 (예 : </a:t>
            </a:r>
            <a:r>
              <a:rPr b="1" lang="ko">
                <a:solidFill>
                  <a:srgbClr val="0000FF"/>
                </a:solidFill>
              </a:rPr>
              <a:t>HTML</a:t>
            </a:r>
            <a:r>
              <a:rPr lang="ko"/>
              <a:t>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8"/>
          <p:cNvSpPr txBox="1"/>
          <p:nvPr>
            <p:ph idx="1" type="body"/>
          </p:nvPr>
        </p:nvSpPr>
        <p:spPr>
          <a:xfrm>
            <a:off x="162825" y="781025"/>
            <a:ext cx="4418100" cy="38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인터넷 상에서 웹 문서및 각종 자원(이미지, 파일, 음악…) 를 제공(서비스) 하는 컴퓨터.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ko">
                <a:highlight>
                  <a:srgbClr val="FFFF00"/>
                </a:highlight>
              </a:rPr>
              <a:t>요청(request)</a:t>
            </a:r>
            <a:br>
              <a:rPr lang="ko"/>
            </a:br>
            <a:r>
              <a:rPr lang="ko"/>
              <a:t>: 서버에 자원을 요청하는것 (요청하는 컴퓨터를 클라이언트 라 한다)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ko">
                <a:highlight>
                  <a:srgbClr val="FFFF00"/>
                </a:highlight>
              </a:rPr>
              <a:t>응답(response)</a:t>
            </a:r>
            <a:br>
              <a:rPr lang="ko"/>
            </a:br>
            <a:r>
              <a:rPr lang="ko"/>
              <a:t>: 서버가 받은 요청에 따라 해당 자원을 전송해주는 것.</a:t>
            </a:r>
            <a:br>
              <a:rPr lang="ko"/>
            </a:br>
            <a:r>
              <a:rPr lang="ko"/>
              <a:t>웹서버의 경우 HTML 웹문서가 응답의 결과</a:t>
            </a:r>
            <a:endParaRPr/>
          </a:p>
        </p:txBody>
      </p:sp>
      <p:sp>
        <p:nvSpPr>
          <p:cNvPr id="172" name="Google Shape;172;p28"/>
          <p:cNvSpPr txBox="1"/>
          <p:nvPr>
            <p:ph type="title"/>
          </p:nvPr>
        </p:nvSpPr>
        <p:spPr>
          <a:xfrm>
            <a:off x="222025" y="73625"/>
            <a:ext cx="58125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클라이언트 &amp; 서버(Server)?</a:t>
            </a:r>
            <a:endParaRPr/>
          </a:p>
        </p:txBody>
      </p:sp>
      <p:pic>
        <p:nvPicPr>
          <p:cNvPr id="173" name="Google Shape;173;p28"/>
          <p:cNvPicPr preferRelativeResize="0"/>
          <p:nvPr/>
        </p:nvPicPr>
        <p:blipFill rotWithShape="1">
          <a:blip r:embed="rId3">
            <a:alphaModFix/>
          </a:blip>
          <a:srcRect b="8421" l="7634" r="9466" t="14107"/>
          <a:stretch/>
        </p:blipFill>
        <p:spPr>
          <a:xfrm>
            <a:off x="4504825" y="1436125"/>
            <a:ext cx="4610650" cy="210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8"/>
          <p:cNvSpPr/>
          <p:nvPr/>
        </p:nvSpPr>
        <p:spPr>
          <a:xfrm>
            <a:off x="5904025" y="3545325"/>
            <a:ext cx="528600" cy="614700"/>
          </a:xfrm>
          <a:prstGeom prst="foldedCorner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HTML</a:t>
            </a:r>
            <a:endParaRPr sz="900"/>
          </a:p>
        </p:txBody>
      </p:sp>
      <p:sp>
        <p:nvSpPr>
          <p:cNvPr id="175" name="Google Shape;175;p28"/>
          <p:cNvSpPr/>
          <p:nvPr/>
        </p:nvSpPr>
        <p:spPr>
          <a:xfrm>
            <a:off x="6503281" y="3545325"/>
            <a:ext cx="573000" cy="614700"/>
          </a:xfrm>
          <a:prstGeom prst="foldedCorner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이미지</a:t>
            </a:r>
            <a:endParaRPr sz="900"/>
          </a:p>
        </p:txBody>
      </p:sp>
      <p:sp>
        <p:nvSpPr>
          <p:cNvPr id="176" name="Google Shape;176;p28"/>
          <p:cNvSpPr/>
          <p:nvPr/>
        </p:nvSpPr>
        <p:spPr>
          <a:xfrm>
            <a:off x="7176923" y="3545325"/>
            <a:ext cx="573000" cy="614700"/>
          </a:xfrm>
          <a:prstGeom prst="foldedCorner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데이터</a:t>
            </a:r>
            <a:endParaRPr sz="900"/>
          </a:p>
        </p:txBody>
      </p:sp>
      <p:sp>
        <p:nvSpPr>
          <p:cNvPr id="177" name="Google Shape;177;p28"/>
          <p:cNvSpPr txBox="1"/>
          <p:nvPr/>
        </p:nvSpPr>
        <p:spPr>
          <a:xfrm>
            <a:off x="4580925" y="3105700"/>
            <a:ext cx="62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client</a:t>
            </a:r>
            <a:endParaRPr/>
          </a:p>
        </p:txBody>
      </p:sp>
      <p:sp>
        <p:nvSpPr>
          <p:cNvPr id="178" name="Google Shape;178;p28"/>
          <p:cNvSpPr txBox="1"/>
          <p:nvPr/>
        </p:nvSpPr>
        <p:spPr>
          <a:xfrm>
            <a:off x="8073950" y="3146125"/>
            <a:ext cx="107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web </a:t>
            </a:r>
            <a:r>
              <a:rPr lang="ko"/>
              <a:t>server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311700" y="64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여기서 잠깐! </a:t>
            </a:r>
            <a:endParaRPr/>
          </a:p>
        </p:txBody>
      </p:sp>
      <p:sp>
        <p:nvSpPr>
          <p:cNvPr id="184" name="Google Shape;184;p29"/>
          <p:cNvSpPr txBox="1"/>
          <p:nvPr>
            <p:ph idx="1" type="body"/>
          </p:nvPr>
        </p:nvSpPr>
        <p:spPr>
          <a:xfrm>
            <a:off x="311700" y="885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웹 WWW 만이 인터넷 상에서 제공되는 서비스가 아니다.</a:t>
            </a:r>
            <a:br>
              <a:rPr lang="ko"/>
            </a:br>
            <a:r>
              <a:rPr lang="ko"/>
              <a:t>전자메일, 파일공유, 웹캠, 동영상, 온라인 게임 등등…..  수 많은 서비스들이 인터넷 기술위에서 제공되고 있다.</a:t>
            </a:r>
            <a:br>
              <a:rPr lang="ko"/>
            </a:br>
            <a:br>
              <a:rPr lang="ko"/>
            </a:br>
            <a:r>
              <a:rPr lang="ko"/>
              <a:t>하나의 서버 컴퓨터가 한가지 서비스만 제공하기 보다는 여러가지 서비스를 제공하고 있을수 있다…  ( 가령 일반적으로 웹서버는 FTP(파일전송) 서버도 겸하고 있다.)</a:t>
            </a:r>
            <a:br>
              <a:rPr lang="ko"/>
            </a:br>
            <a:br>
              <a:rPr lang="ko"/>
            </a:br>
            <a:r>
              <a:rPr lang="ko"/>
              <a:t>즉, </a:t>
            </a:r>
            <a:r>
              <a:rPr lang="ko">
                <a:solidFill>
                  <a:srgbClr val="0000FF"/>
                </a:solidFill>
              </a:rPr>
              <a:t>‘하나의 서버’ </a:t>
            </a:r>
            <a:r>
              <a:rPr lang="ko"/>
              <a:t>안에 </a:t>
            </a:r>
            <a:r>
              <a:rPr lang="ko">
                <a:solidFill>
                  <a:srgbClr val="0000FF"/>
                </a:solidFill>
              </a:rPr>
              <a:t>‘여러가지 서비스 프로그램’</a:t>
            </a:r>
            <a:r>
              <a:rPr lang="ko"/>
              <a:t>들이 운영되며 서버로 전달되는 ‘요청’ 을 대기하고 있을는데…</a:t>
            </a:r>
            <a:br>
              <a:rPr lang="ko"/>
            </a:br>
            <a:br>
              <a:rPr lang="ko"/>
            </a:br>
            <a:r>
              <a:rPr lang="ko"/>
              <a:t>과연?! </a:t>
            </a:r>
            <a:r>
              <a:rPr lang="ko"/>
              <a:t> 요청이 외부에서 왔을때 이를 </a:t>
            </a:r>
            <a:r>
              <a:rPr lang="ko">
                <a:solidFill>
                  <a:srgbClr val="0000FF"/>
                </a:solidFill>
              </a:rPr>
              <a:t>‘어느 서비스 프로그램에 연결해야 하는지’ </a:t>
            </a:r>
            <a:r>
              <a:rPr lang="ko"/>
              <a:t>어떻게 정하나?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/>
          <p:nvPr>
            <p:ph type="title"/>
          </p:nvPr>
        </p:nvSpPr>
        <p:spPr>
          <a:xfrm>
            <a:off x="311700" y="1402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포트(port)  :  이 요청의 수신자 누구?</a:t>
            </a:r>
            <a:endParaRPr/>
          </a:p>
        </p:txBody>
      </p:sp>
      <p:sp>
        <p:nvSpPr>
          <p:cNvPr id="190" name="Google Shape;190;p30"/>
          <p:cNvSpPr txBox="1"/>
          <p:nvPr>
            <p:ph idx="1" type="body"/>
          </p:nvPr>
        </p:nvSpPr>
        <p:spPr>
          <a:xfrm>
            <a:off x="368750" y="3626850"/>
            <a:ext cx="8520600" cy="9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ko"/>
              <a:t>그래서 인터넷 프로토콜에는 port 라는 것을 두어, ‘특정 port’ 와 ‘특정 서비스 프로그램’을 연결한다.</a:t>
            </a:r>
            <a:br>
              <a:rPr lang="ko"/>
            </a:br>
            <a:endParaRPr/>
          </a:p>
        </p:txBody>
      </p:sp>
      <p:pic>
        <p:nvPicPr>
          <p:cNvPr id="191" name="Google Shape;1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325" y="1000025"/>
            <a:ext cx="3575089" cy="24744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2" name="Google Shape;192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9839" y="1000025"/>
            <a:ext cx="3733766" cy="24744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3" name="Google Shape;193;p30"/>
          <p:cNvSpPr/>
          <p:nvPr/>
        </p:nvSpPr>
        <p:spPr>
          <a:xfrm>
            <a:off x="962900" y="1997125"/>
            <a:ext cx="1012800" cy="489900"/>
          </a:xfrm>
          <a:prstGeom prst="rightArrow">
            <a:avLst>
              <a:gd fmla="val 50000" name="adj1"/>
              <a:gd fmla="val 17498" name="adj2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127.0.0.1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1"/>
          <p:cNvSpPr txBox="1"/>
          <p:nvPr>
            <p:ph idx="1" type="body"/>
          </p:nvPr>
        </p:nvSpPr>
        <p:spPr>
          <a:xfrm>
            <a:off x="387900" y="2757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ko"/>
            </a:br>
            <a:br>
              <a:rPr lang="ko"/>
            </a:br>
            <a:r>
              <a:rPr lang="ko"/>
              <a:t>port 는 16bit 정수값으로 구분</a:t>
            </a:r>
            <a:br>
              <a:rPr lang="ko"/>
            </a:br>
            <a:br>
              <a:rPr lang="ko"/>
            </a:br>
            <a:r>
              <a:rPr lang="ko"/>
              <a:t>0 ~ 1023번 : 잘 알려진 포트 (</a:t>
            </a:r>
            <a:r>
              <a:rPr lang="ko">
                <a:solidFill>
                  <a:srgbClr val="FF0000"/>
                </a:solidFill>
              </a:rPr>
              <a:t>건들지 말자</a:t>
            </a:r>
            <a:r>
              <a:rPr lang="ko"/>
              <a:t>)</a:t>
            </a:r>
            <a:br>
              <a:rPr lang="ko"/>
            </a:br>
            <a:r>
              <a:rPr lang="ko"/>
              <a:t>                   ( 이 포트는 URL에서 종종 생략)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ko"/>
              <a:t>1024 ~ 49151:</a:t>
            </a:r>
            <a:r>
              <a:rPr lang="ko">
                <a:solidFill>
                  <a:srgbClr val="695D46"/>
                </a:solidFill>
              </a:rPr>
              <a:t> 등록된 포트</a:t>
            </a:r>
            <a:endParaRPr>
              <a:solidFill>
                <a:srgbClr val="695D46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ko"/>
              <a:t>49152 ~ 65535: 동적포트</a:t>
            </a:r>
            <a:endParaRPr/>
          </a:p>
        </p:txBody>
      </p:sp>
      <p:sp>
        <p:nvSpPr>
          <p:cNvPr id="199" name="Google Shape;199;p31"/>
          <p:cNvSpPr txBox="1"/>
          <p:nvPr/>
        </p:nvSpPr>
        <p:spPr>
          <a:xfrm>
            <a:off x="5282125" y="881825"/>
            <a:ext cx="3000000" cy="3000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대표적인 ‘잘 알려진 포트’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20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: FTP(data)</a:t>
            </a:r>
            <a:b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1"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21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: FTP(제어)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22 : SSH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23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: 텔넷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53 : DNS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80</a:t>
            </a:r>
            <a:r>
              <a:rPr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 : 월드 와이드 웹 HTTP</a:t>
            </a:r>
            <a:endParaRPr sz="18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119 : NNTP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443 : TLS/SSL 방식의 HTTP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2"/>
          <p:cNvSpPr txBox="1"/>
          <p:nvPr>
            <p:ph type="title"/>
          </p:nvPr>
        </p:nvSpPr>
        <p:spPr>
          <a:xfrm>
            <a:off x="380625" y="160725"/>
            <a:ext cx="57969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URL (Uniform Resource Locator).. </a:t>
            </a:r>
            <a:endParaRPr/>
          </a:p>
        </p:txBody>
      </p:sp>
      <p:sp>
        <p:nvSpPr>
          <p:cNvPr id="205" name="Google Shape;205;p32"/>
          <p:cNvSpPr txBox="1"/>
          <p:nvPr>
            <p:ph idx="1" type="body"/>
          </p:nvPr>
        </p:nvSpPr>
        <p:spPr>
          <a:xfrm>
            <a:off x="380625" y="990625"/>
            <a:ext cx="5542500" cy="60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ko"/>
              <a:t>인터넷 상의 모든 컴퓨터 자원이 URL로 표현된다.</a:t>
            </a:r>
            <a:endParaRPr/>
          </a:p>
        </p:txBody>
      </p:sp>
      <p:pic>
        <p:nvPicPr>
          <p:cNvPr id="206" name="Google Shape;20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8700" y="319150"/>
            <a:ext cx="2151675" cy="1463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2"/>
          <p:cNvSpPr txBox="1"/>
          <p:nvPr/>
        </p:nvSpPr>
        <p:spPr>
          <a:xfrm>
            <a:off x="-14100" y="2434075"/>
            <a:ext cx="9075000" cy="56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66666"/>
                </a:solidFill>
                <a:highlight>
                  <a:srgbClr val="FFF2CC"/>
                </a:highlight>
                <a:latin typeface="Open Sans"/>
                <a:ea typeface="Open Sans"/>
                <a:cs typeface="Open Sans"/>
                <a:sym typeface="Open Sans"/>
              </a:rPr>
              <a:t>http:</a:t>
            </a:r>
            <a:r>
              <a:rPr lang="ko" sz="1800">
                <a:solidFill>
                  <a:srgbClr val="695D46"/>
                </a:solidFill>
                <a:highlight>
                  <a:srgbClr val="FFF2CC"/>
                </a:highlight>
                <a:latin typeface="Open Sans"/>
                <a:ea typeface="Open Sans"/>
                <a:cs typeface="Open Sans"/>
                <a:sym typeface="Open Sans"/>
              </a:rPr>
              <a:t>//</a:t>
            </a:r>
            <a:r>
              <a:rPr lang="ko" sz="1800">
                <a:solidFill>
                  <a:srgbClr val="695D46"/>
                </a:solidFill>
                <a:highlight>
                  <a:srgbClr val="B6D7A8"/>
                </a:highlight>
                <a:latin typeface="Open Sans"/>
                <a:ea typeface="Open Sans"/>
                <a:cs typeface="Open Sans"/>
                <a:sym typeface="Open Sans"/>
              </a:rPr>
              <a:t>news.naver.com</a:t>
            </a:r>
            <a:r>
              <a:rPr lang="ko" sz="1800">
                <a:solidFill>
                  <a:srgbClr val="695D46"/>
                </a:solidFill>
                <a:highlight>
                  <a:srgbClr val="FFD966"/>
                </a:highlight>
                <a:latin typeface="Open Sans"/>
                <a:ea typeface="Open Sans"/>
                <a:cs typeface="Open Sans"/>
                <a:sym typeface="Open Sans"/>
              </a:rPr>
              <a:t>:80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/</a:t>
            </a:r>
            <a:r>
              <a:rPr lang="ko" sz="1800">
                <a:solidFill>
                  <a:srgbClr val="695D46"/>
                </a:solidFill>
                <a:highlight>
                  <a:srgbClr val="CFE2F3"/>
                </a:highlight>
                <a:latin typeface="Open Sans"/>
                <a:ea typeface="Open Sans"/>
                <a:cs typeface="Open Sans"/>
                <a:sym typeface="Open Sans"/>
              </a:rPr>
              <a:t>main/at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/</a:t>
            </a:r>
            <a:r>
              <a:rPr lang="ko" sz="1800">
                <a:solidFill>
                  <a:srgbClr val="695D46"/>
                </a:solidFill>
                <a:highlight>
                  <a:srgbClr val="EAD1DC"/>
                </a:highlight>
                <a:latin typeface="Open Sans"/>
                <a:ea typeface="Open Sans"/>
                <a:cs typeface="Open Sans"/>
                <a:sym typeface="Open Sans"/>
              </a:rPr>
              <a:t>main.nhn</a:t>
            </a:r>
            <a:r>
              <a:rPr lang="ko" sz="1800">
                <a:solidFill>
                  <a:srgbClr val="695D46"/>
                </a:solidFill>
                <a:highlight>
                  <a:srgbClr val="FCE5CD"/>
                </a:highlight>
                <a:latin typeface="Open Sans"/>
                <a:ea typeface="Open Sans"/>
                <a:cs typeface="Open Sans"/>
                <a:sym typeface="Open Sans"/>
              </a:rPr>
              <a:t>?mode=LSD&amp;mid=shm&amp;sid1=102</a:t>
            </a:r>
            <a:r>
              <a:rPr lang="ko" sz="1800">
                <a:solidFill>
                  <a:srgbClr val="695D46"/>
                </a:solidFill>
                <a:highlight>
                  <a:srgbClr val="B4A7D6"/>
                </a:highlight>
                <a:latin typeface="Open Sans"/>
                <a:ea typeface="Open Sans"/>
                <a:cs typeface="Open Sans"/>
                <a:sym typeface="Open Sans"/>
              </a:rPr>
              <a:t>#con</a:t>
            </a:r>
            <a:endParaRPr sz="1800">
              <a:highlight>
                <a:srgbClr val="B4A7D6"/>
              </a:highlight>
            </a:endParaRPr>
          </a:p>
        </p:txBody>
      </p:sp>
      <p:sp>
        <p:nvSpPr>
          <p:cNvPr id="208" name="Google Shape;208;p32"/>
          <p:cNvSpPr txBox="1"/>
          <p:nvPr/>
        </p:nvSpPr>
        <p:spPr>
          <a:xfrm>
            <a:off x="77650" y="3408825"/>
            <a:ext cx="939900" cy="6039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protocol</a:t>
            </a:r>
            <a:br>
              <a:rPr lang="ko"/>
            </a:br>
            <a:r>
              <a:rPr lang="ko"/>
              <a:t>프로토콜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혹은 schema</a:t>
            </a:r>
            <a:endParaRPr sz="900"/>
          </a:p>
        </p:txBody>
      </p:sp>
      <p:sp>
        <p:nvSpPr>
          <p:cNvPr id="209" name="Google Shape;209;p32"/>
          <p:cNvSpPr txBox="1"/>
          <p:nvPr/>
        </p:nvSpPr>
        <p:spPr>
          <a:xfrm>
            <a:off x="1144450" y="3408825"/>
            <a:ext cx="1119600" cy="7482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host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서버주소</a:t>
            </a:r>
            <a:br>
              <a:rPr lang="ko"/>
            </a:br>
            <a:r>
              <a:rPr lang="ko"/>
              <a:t>IP / 도메인 </a:t>
            </a:r>
            <a:endParaRPr/>
          </a:p>
        </p:txBody>
      </p:sp>
      <p:sp>
        <p:nvSpPr>
          <p:cNvPr id="210" name="Google Shape;210;p32"/>
          <p:cNvSpPr txBox="1"/>
          <p:nvPr/>
        </p:nvSpPr>
        <p:spPr>
          <a:xfrm>
            <a:off x="3049450" y="3408825"/>
            <a:ext cx="706800" cy="7482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path</a:t>
            </a:r>
            <a:br>
              <a:rPr lang="ko"/>
            </a:br>
            <a:r>
              <a:rPr lang="ko"/>
              <a:t>경로명 </a:t>
            </a:r>
            <a:endParaRPr/>
          </a:p>
        </p:txBody>
      </p:sp>
      <p:sp>
        <p:nvSpPr>
          <p:cNvPr id="211" name="Google Shape;211;p32"/>
          <p:cNvSpPr txBox="1"/>
          <p:nvPr/>
        </p:nvSpPr>
        <p:spPr>
          <a:xfrm>
            <a:off x="3887650" y="3408825"/>
            <a:ext cx="866100" cy="603900"/>
          </a:xfrm>
          <a:prstGeom prst="rect">
            <a:avLst/>
          </a:prstGeom>
          <a:solidFill>
            <a:srgbClr val="EAD1D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자원명</a:t>
            </a:r>
            <a:br>
              <a:rPr lang="ko"/>
            </a:br>
            <a:r>
              <a:rPr lang="ko"/>
              <a:t>(문서명)</a:t>
            </a:r>
            <a:endParaRPr/>
          </a:p>
        </p:txBody>
      </p:sp>
      <p:sp>
        <p:nvSpPr>
          <p:cNvPr id="212" name="Google Shape;212;p32"/>
          <p:cNvSpPr txBox="1"/>
          <p:nvPr/>
        </p:nvSpPr>
        <p:spPr>
          <a:xfrm>
            <a:off x="5078600" y="3408825"/>
            <a:ext cx="2876400" cy="3477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조회문자열 (Query String)</a:t>
            </a:r>
            <a:endParaRPr/>
          </a:p>
        </p:txBody>
      </p:sp>
      <p:sp>
        <p:nvSpPr>
          <p:cNvPr id="213" name="Google Shape;213;p32"/>
          <p:cNvSpPr txBox="1"/>
          <p:nvPr/>
        </p:nvSpPr>
        <p:spPr>
          <a:xfrm>
            <a:off x="2390950" y="3408825"/>
            <a:ext cx="581400" cy="707400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port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포트</a:t>
            </a:r>
            <a:br>
              <a:rPr lang="ko"/>
            </a:br>
            <a:r>
              <a:rPr lang="ko"/>
              <a:t>번호</a:t>
            </a:r>
            <a:endParaRPr/>
          </a:p>
        </p:txBody>
      </p:sp>
      <p:sp>
        <p:nvSpPr>
          <p:cNvPr id="214" name="Google Shape;214;p32"/>
          <p:cNvSpPr txBox="1"/>
          <p:nvPr/>
        </p:nvSpPr>
        <p:spPr>
          <a:xfrm>
            <a:off x="8107400" y="3408825"/>
            <a:ext cx="1031700" cy="3477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fragment</a:t>
            </a:r>
            <a:endParaRPr/>
          </a:p>
        </p:txBody>
      </p:sp>
      <p:sp>
        <p:nvSpPr>
          <p:cNvPr id="215" name="Google Shape;215;p32"/>
          <p:cNvSpPr/>
          <p:nvPr/>
        </p:nvSpPr>
        <p:spPr>
          <a:xfrm>
            <a:off x="2193750" y="1475825"/>
            <a:ext cx="3433500" cy="549300"/>
          </a:xfrm>
          <a:prstGeom prst="wedgeRoundRectCallout">
            <a:avLst>
              <a:gd fmla="val 61179" name="adj1"/>
              <a:gd fmla="val 92190" name="adj2"/>
              <a:gd fmla="val 0" name="adj3"/>
            </a:avLst>
          </a:prstGeom>
          <a:solidFill>
            <a:srgbClr val="FFFFFF">
              <a:alpha val="81130"/>
            </a:srgbClr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FF0000"/>
                </a:solidFill>
              </a:rPr>
              <a:t>URL 에는 한글, 띄어쓰기, 특수문자 안되요</a:t>
            </a:r>
            <a:r>
              <a:rPr lang="ko" sz="1100"/>
              <a:t>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이러한 문자들은 URL Encoding 으로 작성해야 한다.</a:t>
            </a:r>
            <a:endParaRPr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URL 다양한 형태의 프로토콜...</a:t>
            </a:r>
            <a:endParaRPr/>
          </a:p>
        </p:txBody>
      </p:sp>
      <p:sp>
        <p:nvSpPr>
          <p:cNvPr id="221" name="Google Shape;221;p33"/>
          <p:cNvSpPr txBox="1"/>
          <p:nvPr>
            <p:ph idx="1" type="body"/>
          </p:nvPr>
        </p:nvSpPr>
        <p:spPr>
          <a:xfrm>
            <a:off x="311700" y="1266325"/>
            <a:ext cx="8520600" cy="4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22" name="Google Shape;222;p33"/>
          <p:cNvGraphicFramePr/>
          <p:nvPr/>
        </p:nvGraphicFramePr>
        <p:xfrm>
          <a:off x="228600" y="205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{A33FCC44-5095-4EFF-96A3-F47EEC7053C7}</a:tableStyleId>
              </a:tblPr>
              <a:tblGrid>
                <a:gridCol w="3602975"/>
                <a:gridCol w="4917225"/>
              </a:tblGrid>
              <a:tr h="438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800">
                          <a:solidFill>
                            <a:srgbClr val="EF6C00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URL 주소의 프로토콜 식별자</a:t>
                      </a:r>
                      <a:endParaRPr sz="1800">
                        <a:solidFill>
                          <a:srgbClr val="EF6C00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50800" marB="50800" marR="50800" marL="50800">
                    <a:lnL cap="flat" cmpd="sng" w="1257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57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57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57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B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800">
                          <a:solidFill>
                            <a:srgbClr val="EF6C00"/>
                          </a:solidFill>
                          <a:latin typeface="PT Sans Narrow"/>
                          <a:ea typeface="PT Sans Narrow"/>
                          <a:cs typeface="PT Sans Narrow"/>
                          <a:sym typeface="PT Sans Narrow"/>
                        </a:rPr>
                        <a:t>설명</a:t>
                      </a:r>
                      <a:endParaRPr sz="1800">
                        <a:solidFill>
                          <a:srgbClr val="EF6C00"/>
                        </a:solidFill>
                        <a:latin typeface="PT Sans Narrow"/>
                        <a:ea typeface="PT Sans Narrow"/>
                        <a:cs typeface="PT Sans Narrow"/>
                        <a:sym typeface="PT Sans Narrow"/>
                      </a:endParaRPr>
                    </a:p>
                  </a:txBody>
                  <a:tcPr marT="50800" marB="50800" marR="50800" marL="50800">
                    <a:lnL cap="flat" cmpd="sng" w="1257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57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57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57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EBF6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u="sng">
                          <a:hlinkClick r:id="rId3"/>
                        </a:rPr>
                        <a:t>http://</a:t>
                      </a:r>
                      <a:r>
                        <a:rPr lang="ko" u="sng">
                          <a:hlinkClick r:id="rId4"/>
                        </a:rPr>
                        <a:t>www.codedragon.com</a:t>
                      </a:r>
                      <a:endParaRPr u="sng">
                        <a:hlinkClick r:id="rId5"/>
                      </a:endParaRPr>
                    </a:p>
                  </a:txBody>
                  <a:tcPr marT="50800" marB="50800" marR="50800" marL="50800">
                    <a:lnL cap="flat" cmpd="sng" w="1257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57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57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57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http는 웹서버에 접속하기 위한 프로토콜</a:t>
                      </a:r>
                      <a:endParaRPr/>
                    </a:p>
                  </a:txBody>
                  <a:tcPr marT="50800" marB="50800" marR="50800" marL="50800">
                    <a:lnL cap="flat" cmpd="sng" w="1257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57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57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57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/>
                        <a:t>ftp://</a:t>
                      </a:r>
                      <a:r>
                        <a:rPr lang="ko"/>
                        <a:t>ftp.codedragon.com/pub</a:t>
                      </a:r>
                      <a:endParaRPr/>
                    </a:p>
                  </a:txBody>
                  <a:tcPr marT="50800" marB="50800" marR="50800" marL="50800">
                    <a:lnL cap="flat" cmpd="sng" w="1257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57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57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57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ftp 는 파일서버에 접속하기 위한 프로토콜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ftp 서버에 접속하여 파일을 업로드/다운로드 받을 수 있습니다.</a:t>
                      </a:r>
                      <a:endParaRPr/>
                    </a:p>
                  </a:txBody>
                  <a:tcPr marT="50800" marB="50800" marR="50800" marL="50800">
                    <a:lnL cap="flat" cmpd="sng" w="1257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57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57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57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/>
                        <a:t>mailto:</a:t>
                      </a:r>
                      <a:r>
                        <a:rPr lang="ko"/>
                        <a:t>codelab@codedragon.com</a:t>
                      </a:r>
                      <a:endParaRPr/>
                    </a:p>
                  </a:txBody>
                  <a:tcPr marT="50800" marB="50800" marR="50800" marL="50800">
                    <a:lnL cap="flat" cmpd="sng" w="1257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57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57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57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mailto 는 전자메일 서버에 접속하기 위한 프로토콜</a:t>
                      </a:r>
                      <a:endParaRPr/>
                    </a:p>
                  </a:txBody>
                  <a:tcPr marT="50800" marB="50800" marR="50800" marL="50800">
                    <a:lnL cap="flat" cmpd="sng" w="1257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57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57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57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/>
                        <a:t>telnet://</a:t>
                      </a:r>
                      <a:r>
                        <a:rPr lang="ko"/>
                        <a:t>117.52.2.25</a:t>
                      </a:r>
                      <a:endParaRPr/>
                    </a:p>
                  </a:txBody>
                  <a:tcPr marT="50800" marB="50800" marR="50800" marL="50800">
                    <a:lnL cap="flat" cmpd="sng" w="1257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57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57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57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telnet 은 원격지 접속을 위한 프로토콜</a:t>
                      </a:r>
                      <a:endParaRPr/>
                    </a:p>
                  </a:txBody>
                  <a:tcPr marT="50800" marB="50800" marR="50800" marL="50800">
                    <a:lnL cap="flat" cmpd="sng" w="1257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57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57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57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/>
                        <a:t>file:///</a:t>
                      </a:r>
                      <a:r>
                        <a:rPr lang="ko"/>
                        <a:t>C:/Dropbox/Apr.Y.G.Kim/kim.html</a:t>
                      </a:r>
                      <a:endParaRPr/>
                    </a:p>
                  </a:txBody>
                  <a:tcPr marT="50800" marB="50800" marR="50800" marL="50800">
                    <a:lnL cap="flat" cmpd="sng" w="1257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57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57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57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자기 컴퓨터 안의 파일.</a:t>
                      </a:r>
                      <a:endParaRPr/>
                    </a:p>
                  </a:txBody>
                  <a:tcPr marT="50800" marB="50800" marR="50800" marL="50800">
                    <a:lnL cap="flat" cmpd="sng" w="1257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57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57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57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4"/>
          <p:cNvSpPr txBox="1"/>
          <p:nvPr>
            <p:ph type="title"/>
          </p:nvPr>
        </p:nvSpPr>
        <p:spPr>
          <a:xfrm>
            <a:off x="2843350" y="-27475"/>
            <a:ext cx="3177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3200"/>
              <a:t>Request message</a:t>
            </a:r>
            <a:endParaRPr sz="3200"/>
          </a:p>
        </p:txBody>
      </p:sp>
      <p:pic>
        <p:nvPicPr>
          <p:cNvPr id="228" name="Google Shape;22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1938" y="603488"/>
            <a:ext cx="3965825" cy="188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4"/>
          <p:cNvPicPr preferRelativeResize="0"/>
          <p:nvPr/>
        </p:nvPicPr>
        <p:blipFill rotWithShape="1">
          <a:blip r:embed="rId4">
            <a:alphaModFix/>
          </a:blip>
          <a:srcRect b="6164" l="0" r="0" t="0"/>
          <a:stretch/>
        </p:blipFill>
        <p:spPr>
          <a:xfrm>
            <a:off x="2185675" y="3159625"/>
            <a:ext cx="4114225" cy="183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9726" y="859763"/>
            <a:ext cx="1624125" cy="162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450" y="1797800"/>
            <a:ext cx="2179775" cy="217977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4"/>
          <p:cNvSpPr/>
          <p:nvPr/>
        </p:nvSpPr>
        <p:spPr>
          <a:xfrm>
            <a:off x="6384150" y="3710875"/>
            <a:ext cx="1214700" cy="6318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Response</a:t>
            </a:r>
            <a:endParaRPr/>
          </a:p>
        </p:txBody>
      </p:sp>
      <p:sp>
        <p:nvSpPr>
          <p:cNvPr id="233" name="Google Shape;233;p34"/>
          <p:cNvSpPr/>
          <p:nvPr/>
        </p:nvSpPr>
        <p:spPr>
          <a:xfrm>
            <a:off x="1945775" y="1289600"/>
            <a:ext cx="1214700" cy="50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Request</a:t>
            </a:r>
            <a:endParaRPr/>
          </a:p>
        </p:txBody>
      </p:sp>
      <p:sp>
        <p:nvSpPr>
          <p:cNvPr id="234" name="Google Shape;234;p34"/>
          <p:cNvSpPr txBox="1"/>
          <p:nvPr>
            <p:ph type="title"/>
          </p:nvPr>
        </p:nvSpPr>
        <p:spPr>
          <a:xfrm>
            <a:off x="2144150" y="2704750"/>
            <a:ext cx="3177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3200"/>
              <a:t>Response message</a:t>
            </a:r>
            <a:endParaRPr sz="3200"/>
          </a:p>
        </p:txBody>
      </p:sp>
      <p:sp>
        <p:nvSpPr>
          <p:cNvPr id="235" name="Google Shape;235;p34"/>
          <p:cNvSpPr txBox="1"/>
          <p:nvPr/>
        </p:nvSpPr>
        <p:spPr>
          <a:xfrm>
            <a:off x="447688" y="2483900"/>
            <a:ext cx="1108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latin typeface="Open Sans"/>
                <a:ea typeface="Open Sans"/>
                <a:cs typeface="Open Sans"/>
                <a:sym typeface="Open Sans"/>
              </a:rPr>
              <a:t>Client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6" name="Google Shape;236;p34"/>
          <p:cNvSpPr txBox="1"/>
          <p:nvPr/>
        </p:nvSpPr>
        <p:spPr>
          <a:xfrm>
            <a:off x="7895163" y="3710875"/>
            <a:ext cx="1108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latin typeface="Open Sans"/>
                <a:ea typeface="Open Sans"/>
                <a:cs typeface="Open Sans"/>
                <a:sym typeface="Open Sans"/>
              </a:rPr>
              <a:t>Server</a:t>
            </a:r>
            <a:endParaRPr sz="11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5"/>
          <p:cNvSpPr txBox="1"/>
          <p:nvPr>
            <p:ph type="title"/>
          </p:nvPr>
        </p:nvSpPr>
        <p:spPr>
          <a:xfrm>
            <a:off x="311700" y="-8837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Request Method  (Http verb.)</a:t>
            </a:r>
            <a:endParaRPr/>
          </a:p>
        </p:txBody>
      </p:sp>
      <p:sp>
        <p:nvSpPr>
          <p:cNvPr id="242" name="Google Shape;242;p35"/>
          <p:cNvSpPr txBox="1"/>
          <p:nvPr>
            <p:ph idx="1" type="body"/>
          </p:nvPr>
        </p:nvSpPr>
        <p:spPr>
          <a:xfrm>
            <a:off x="141300" y="683925"/>
            <a:ext cx="4867800" cy="19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u="sng">
                <a:solidFill>
                  <a:schemeClr val="hlink"/>
                </a:solidFill>
                <a:hlinkClick r:id="rId3"/>
              </a:rPr>
              <a:t>https://developer.mozilla.org/ko/docs/Web/HTTP/Methods</a:t>
            </a:r>
            <a:endParaRPr sz="13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ko" sz="1200">
                <a:solidFill>
                  <a:srgbClr val="1B1B1B"/>
                </a:solidFill>
                <a:highlight>
                  <a:srgbClr val="FFFFFF"/>
                </a:highlight>
                <a:latin typeface="Ubuntu"/>
                <a:ea typeface="Ubuntu"/>
                <a:cs typeface="Ubuntu"/>
                <a:sym typeface="Ubuntu"/>
              </a:rPr>
              <a:t>HTTP는</a:t>
            </a:r>
            <a:r>
              <a:rPr b="1" lang="ko" sz="1200">
                <a:solidFill>
                  <a:srgbClr val="0000FF"/>
                </a:solidFill>
                <a:highlight>
                  <a:srgbClr val="FFFFFF"/>
                </a:highlight>
                <a:latin typeface="Ubuntu"/>
                <a:ea typeface="Ubuntu"/>
                <a:cs typeface="Ubuntu"/>
                <a:sym typeface="Ubuntu"/>
              </a:rPr>
              <a:t> request method </a:t>
            </a:r>
            <a:r>
              <a:rPr lang="ko" sz="1200">
                <a:solidFill>
                  <a:srgbClr val="1B1B1B"/>
                </a:solidFill>
                <a:highlight>
                  <a:srgbClr val="FFFFFF"/>
                </a:highlight>
                <a:latin typeface="Ubuntu"/>
                <a:ea typeface="Ubuntu"/>
                <a:cs typeface="Ubuntu"/>
                <a:sym typeface="Ubuntu"/>
              </a:rPr>
              <a:t>를 설정하여, </a:t>
            </a:r>
            <a:r>
              <a:rPr b="1" lang="ko" sz="1200">
                <a:solidFill>
                  <a:srgbClr val="0000FF"/>
                </a:solidFill>
                <a:highlight>
                  <a:srgbClr val="FFFFFF"/>
                </a:highlight>
                <a:latin typeface="Ubuntu"/>
                <a:ea typeface="Ubuntu"/>
                <a:cs typeface="Ubuntu"/>
                <a:sym typeface="Ubuntu"/>
              </a:rPr>
              <a:t>주어진 리소스에 수행하길 원하는 동작</a:t>
            </a:r>
            <a:r>
              <a:rPr lang="ko" sz="1200">
                <a:solidFill>
                  <a:srgbClr val="1B1B1B"/>
                </a:solidFill>
                <a:highlight>
                  <a:srgbClr val="FFFFFF"/>
                </a:highlight>
                <a:latin typeface="Ubuntu"/>
                <a:ea typeface="Ubuntu"/>
                <a:cs typeface="Ubuntu"/>
                <a:sym typeface="Ubuntu"/>
              </a:rPr>
              <a:t>을 명시할수 있다. </a:t>
            </a:r>
            <a:br>
              <a:rPr lang="ko" sz="1200">
                <a:solidFill>
                  <a:srgbClr val="1B1B1B"/>
                </a:solidFill>
                <a:highlight>
                  <a:srgbClr val="FFFFFF"/>
                </a:highlight>
                <a:latin typeface="Ubuntu"/>
                <a:ea typeface="Ubuntu"/>
                <a:cs typeface="Ubuntu"/>
                <a:sym typeface="Ubuntu"/>
              </a:rPr>
            </a:br>
            <a:r>
              <a:rPr lang="ko" sz="1200">
                <a:solidFill>
                  <a:srgbClr val="1B1B1B"/>
                </a:solidFill>
                <a:highlight>
                  <a:srgbClr val="FFFFFF"/>
                </a:highlight>
                <a:latin typeface="Ubuntu"/>
                <a:ea typeface="Ubuntu"/>
                <a:cs typeface="Ubuntu"/>
                <a:sym typeface="Ubuntu"/>
              </a:rPr>
              <a:t>이 request method 를 "HTTP verb."라고도 함.</a:t>
            </a:r>
            <a:endParaRPr/>
          </a:p>
        </p:txBody>
      </p:sp>
      <p:pic>
        <p:nvPicPr>
          <p:cNvPr id="243" name="Google Shape;243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300" y="2744925"/>
            <a:ext cx="5435849" cy="21851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4" name="Google Shape;244;p35"/>
          <p:cNvGraphicFramePr/>
          <p:nvPr/>
        </p:nvGraphicFramePr>
        <p:xfrm>
          <a:off x="5217650" y="65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{4EB3DB3B-0DDC-4309-9B61-FAA00DC575C3}</a:tableStyleId>
              </a:tblPr>
              <a:tblGrid>
                <a:gridCol w="1075775"/>
                <a:gridCol w="2850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/>
                        <a:t>GET</a:t>
                      </a:r>
                      <a:endParaRPr b="1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요청한 자원를 검색하고 받아오기 위한 동작</a:t>
                      </a:r>
                      <a:endParaRPr sz="1000"/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/>
                        <a:t>POST</a:t>
                      </a:r>
                      <a:endParaRPr b="1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요청한 자원을 서버에 생성하기 위한 동작</a:t>
                      </a:r>
                      <a:endParaRPr sz="1000"/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/>
                        <a:t>PUT</a:t>
                      </a:r>
                      <a:endParaRPr b="1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요청한 자원을 수정하기 위한 동작</a:t>
                      </a:r>
                      <a:endParaRPr sz="1000"/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/>
                        <a:t>PATCH</a:t>
                      </a:r>
                      <a:endParaRPr b="1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요청한 자원을 '일부' 수정하기 위한 동작</a:t>
                      </a:r>
                      <a:endParaRPr sz="1000"/>
                    </a:p>
                  </a:txBody>
                  <a:tcPr marT="91425" marB="91425" marR="91425" marL="91425"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/>
                        <a:t>DELETE</a:t>
                      </a:r>
                      <a:endParaRPr b="1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요청한 자원을 삭제하기 위한 동작</a:t>
                      </a:r>
                      <a:endParaRPr sz="1000"/>
                    </a:p>
                  </a:txBody>
                  <a:tcPr marT="91425" marB="91425" marR="91425" marL="91425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Response code  (status code)</a:t>
            </a:r>
            <a:endParaRPr/>
          </a:p>
        </p:txBody>
      </p:sp>
      <p:sp>
        <p:nvSpPr>
          <p:cNvPr id="250" name="Google Shape;250;p36"/>
          <p:cNvSpPr txBox="1"/>
          <p:nvPr>
            <p:ph idx="1" type="body"/>
          </p:nvPr>
        </p:nvSpPr>
        <p:spPr>
          <a:xfrm>
            <a:off x="311700" y="1266325"/>
            <a:ext cx="85206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u="sng">
                <a:solidFill>
                  <a:schemeClr val="hlink"/>
                </a:solidFill>
                <a:hlinkClick r:id="rId3"/>
              </a:rPr>
              <a:t>https://developer.mozilla.org/ko/docs/Web/HTTP/Status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6"/>
          <p:cNvSpPr txBox="1"/>
          <p:nvPr/>
        </p:nvSpPr>
        <p:spPr>
          <a:xfrm>
            <a:off x="180925" y="1907625"/>
            <a:ext cx="4273200" cy="17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response code 는 5개 그룹으로 분류</a:t>
            </a:r>
            <a:endParaRPr/>
          </a:p>
          <a:p>
            <a:pPr indent="-304800" lvl="0" marL="4572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rgbClr val="1B1B1B"/>
              </a:buClr>
              <a:buSzPts val="1200"/>
              <a:buFont typeface="Ubuntu"/>
              <a:buAutoNum type="arabicPeriod"/>
            </a:pPr>
            <a:r>
              <a:rPr lang="ko" sz="1200">
                <a:solidFill>
                  <a:schemeClr val="hlink"/>
                </a:solidFill>
                <a:highlight>
                  <a:srgbClr val="FFFFFF"/>
                </a:highlight>
                <a:uFill>
                  <a:noFill/>
                </a:uFill>
                <a:latin typeface="Ubuntu"/>
                <a:ea typeface="Ubuntu"/>
                <a:cs typeface="Ubuntu"/>
                <a:sym typeface="Ubuntu"/>
                <a:hlinkClick r:id="rId4"/>
              </a:rPr>
              <a:t>Informational responses</a:t>
            </a:r>
            <a:r>
              <a:rPr lang="ko" sz="1200">
                <a:solidFill>
                  <a:srgbClr val="1B1B1B"/>
                </a:solidFill>
                <a:highlight>
                  <a:srgbClr val="FFFFFF"/>
                </a:highlight>
                <a:latin typeface="Ubuntu"/>
                <a:ea typeface="Ubuntu"/>
                <a:cs typeface="Ubuntu"/>
                <a:sym typeface="Ubuntu"/>
              </a:rPr>
              <a:t> (</a:t>
            </a:r>
            <a:r>
              <a:rPr lang="ko" sz="1200">
                <a:solidFill>
                  <a:srgbClr val="188038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100</a:t>
            </a:r>
            <a:r>
              <a:rPr lang="ko" sz="1200">
                <a:solidFill>
                  <a:srgbClr val="1B1B1B"/>
                </a:solidFill>
                <a:highlight>
                  <a:srgbClr val="FFFFFF"/>
                </a:highlight>
                <a:latin typeface="Ubuntu"/>
                <a:ea typeface="Ubuntu"/>
                <a:cs typeface="Ubuntu"/>
                <a:sym typeface="Ubuntu"/>
              </a:rPr>
              <a:t> – </a:t>
            </a:r>
            <a:r>
              <a:rPr lang="ko" sz="1200">
                <a:solidFill>
                  <a:srgbClr val="188038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199</a:t>
            </a:r>
            <a:r>
              <a:rPr lang="ko" sz="1200">
                <a:solidFill>
                  <a:srgbClr val="1B1B1B"/>
                </a:solidFill>
                <a:highlight>
                  <a:srgbClr val="FFFFFF"/>
                </a:highlight>
                <a:latin typeface="Ubuntu"/>
                <a:ea typeface="Ubuntu"/>
                <a:cs typeface="Ubuntu"/>
                <a:sym typeface="Ubuntu"/>
              </a:rPr>
              <a:t>)</a:t>
            </a:r>
            <a:endParaRPr sz="1200">
              <a:solidFill>
                <a:srgbClr val="1B1B1B"/>
              </a:solidFill>
              <a:highlight>
                <a:srgbClr val="FFFFFF"/>
              </a:highlight>
              <a:latin typeface="Ubuntu"/>
              <a:ea typeface="Ubuntu"/>
              <a:cs typeface="Ubuntu"/>
              <a:sym typeface="Ubuntu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200"/>
              <a:buFont typeface="Ubuntu"/>
              <a:buAutoNum type="arabicPeriod"/>
            </a:pPr>
            <a:r>
              <a:rPr lang="ko" sz="1200" u="sng">
                <a:solidFill>
                  <a:schemeClr val="hlink"/>
                </a:solidFill>
                <a:highlight>
                  <a:srgbClr val="FFFFFF"/>
                </a:highlight>
                <a:latin typeface="Ubuntu"/>
                <a:ea typeface="Ubuntu"/>
                <a:cs typeface="Ubuntu"/>
                <a:sym typeface="Ubuntu"/>
                <a:hlinkClick r:id="rId5"/>
              </a:rPr>
              <a:t>Successful responses</a:t>
            </a:r>
            <a:r>
              <a:rPr lang="ko" sz="1200">
                <a:solidFill>
                  <a:srgbClr val="1B1B1B"/>
                </a:solidFill>
                <a:highlight>
                  <a:srgbClr val="FFFFFF"/>
                </a:highlight>
                <a:latin typeface="Ubuntu"/>
                <a:ea typeface="Ubuntu"/>
                <a:cs typeface="Ubuntu"/>
                <a:sym typeface="Ubuntu"/>
              </a:rPr>
              <a:t> (</a:t>
            </a:r>
            <a:r>
              <a:rPr lang="ko" sz="1200">
                <a:solidFill>
                  <a:srgbClr val="188038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200</a:t>
            </a:r>
            <a:r>
              <a:rPr lang="ko" sz="1200">
                <a:solidFill>
                  <a:srgbClr val="1B1B1B"/>
                </a:solidFill>
                <a:highlight>
                  <a:srgbClr val="FFFFFF"/>
                </a:highlight>
                <a:latin typeface="Ubuntu"/>
                <a:ea typeface="Ubuntu"/>
                <a:cs typeface="Ubuntu"/>
                <a:sym typeface="Ubuntu"/>
              </a:rPr>
              <a:t> – </a:t>
            </a:r>
            <a:r>
              <a:rPr lang="ko" sz="1200">
                <a:solidFill>
                  <a:srgbClr val="188038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299</a:t>
            </a:r>
            <a:r>
              <a:rPr lang="ko" sz="1200">
                <a:solidFill>
                  <a:srgbClr val="1B1B1B"/>
                </a:solidFill>
                <a:highlight>
                  <a:srgbClr val="FFFFFF"/>
                </a:highlight>
                <a:latin typeface="Ubuntu"/>
                <a:ea typeface="Ubuntu"/>
                <a:cs typeface="Ubuntu"/>
                <a:sym typeface="Ubuntu"/>
              </a:rPr>
              <a:t>)</a:t>
            </a:r>
            <a:endParaRPr sz="1200">
              <a:solidFill>
                <a:srgbClr val="1B1B1B"/>
              </a:solidFill>
              <a:highlight>
                <a:srgbClr val="FFFFFF"/>
              </a:highlight>
              <a:latin typeface="Ubuntu"/>
              <a:ea typeface="Ubuntu"/>
              <a:cs typeface="Ubuntu"/>
              <a:sym typeface="Ubuntu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200"/>
              <a:buFont typeface="Ubuntu"/>
              <a:buAutoNum type="arabicPeriod"/>
            </a:pPr>
            <a:r>
              <a:rPr lang="ko" sz="1200" u="sng">
                <a:solidFill>
                  <a:schemeClr val="hlink"/>
                </a:solidFill>
                <a:highlight>
                  <a:srgbClr val="FFFFFF"/>
                </a:highlight>
                <a:latin typeface="Ubuntu"/>
                <a:ea typeface="Ubuntu"/>
                <a:cs typeface="Ubuntu"/>
                <a:sym typeface="Ubuntu"/>
                <a:hlinkClick r:id="rId6"/>
              </a:rPr>
              <a:t>Redirection messages</a:t>
            </a:r>
            <a:r>
              <a:rPr lang="ko" sz="1200">
                <a:solidFill>
                  <a:srgbClr val="1B1B1B"/>
                </a:solidFill>
                <a:highlight>
                  <a:srgbClr val="FFFFFF"/>
                </a:highlight>
                <a:latin typeface="Ubuntu"/>
                <a:ea typeface="Ubuntu"/>
                <a:cs typeface="Ubuntu"/>
                <a:sym typeface="Ubuntu"/>
              </a:rPr>
              <a:t> (</a:t>
            </a:r>
            <a:r>
              <a:rPr lang="ko" sz="1200">
                <a:solidFill>
                  <a:srgbClr val="188038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300</a:t>
            </a:r>
            <a:r>
              <a:rPr lang="ko" sz="1200">
                <a:solidFill>
                  <a:srgbClr val="1B1B1B"/>
                </a:solidFill>
                <a:highlight>
                  <a:srgbClr val="FFFFFF"/>
                </a:highlight>
                <a:latin typeface="Ubuntu"/>
                <a:ea typeface="Ubuntu"/>
                <a:cs typeface="Ubuntu"/>
                <a:sym typeface="Ubuntu"/>
              </a:rPr>
              <a:t> – </a:t>
            </a:r>
            <a:r>
              <a:rPr lang="ko" sz="1200">
                <a:solidFill>
                  <a:srgbClr val="188038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399</a:t>
            </a:r>
            <a:r>
              <a:rPr lang="ko" sz="1200">
                <a:solidFill>
                  <a:srgbClr val="1B1B1B"/>
                </a:solidFill>
                <a:highlight>
                  <a:srgbClr val="FFFFFF"/>
                </a:highlight>
                <a:latin typeface="Ubuntu"/>
                <a:ea typeface="Ubuntu"/>
                <a:cs typeface="Ubuntu"/>
                <a:sym typeface="Ubuntu"/>
              </a:rPr>
              <a:t>)</a:t>
            </a:r>
            <a:endParaRPr sz="1200">
              <a:solidFill>
                <a:srgbClr val="1B1B1B"/>
              </a:solidFill>
              <a:highlight>
                <a:srgbClr val="FFFFFF"/>
              </a:highlight>
              <a:latin typeface="Ubuntu"/>
              <a:ea typeface="Ubuntu"/>
              <a:cs typeface="Ubuntu"/>
              <a:sym typeface="Ubuntu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200"/>
              <a:buFont typeface="Ubuntu"/>
              <a:buAutoNum type="arabicPeriod"/>
            </a:pPr>
            <a:r>
              <a:rPr lang="ko" sz="1200" u="sng">
                <a:solidFill>
                  <a:schemeClr val="hlink"/>
                </a:solidFill>
                <a:highlight>
                  <a:srgbClr val="FFFFFF"/>
                </a:highlight>
                <a:latin typeface="Ubuntu"/>
                <a:ea typeface="Ubuntu"/>
                <a:cs typeface="Ubuntu"/>
                <a:sym typeface="Ubuntu"/>
                <a:hlinkClick r:id="rId7"/>
              </a:rPr>
              <a:t>Client error responses</a:t>
            </a:r>
            <a:r>
              <a:rPr lang="ko" sz="1200">
                <a:solidFill>
                  <a:srgbClr val="1B1B1B"/>
                </a:solidFill>
                <a:highlight>
                  <a:srgbClr val="FFFFFF"/>
                </a:highlight>
                <a:latin typeface="Ubuntu"/>
                <a:ea typeface="Ubuntu"/>
                <a:cs typeface="Ubuntu"/>
                <a:sym typeface="Ubuntu"/>
              </a:rPr>
              <a:t> (</a:t>
            </a:r>
            <a:r>
              <a:rPr lang="ko" sz="1200">
                <a:solidFill>
                  <a:srgbClr val="188038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400</a:t>
            </a:r>
            <a:r>
              <a:rPr lang="ko" sz="1200">
                <a:solidFill>
                  <a:srgbClr val="1B1B1B"/>
                </a:solidFill>
                <a:highlight>
                  <a:srgbClr val="FFFFFF"/>
                </a:highlight>
                <a:latin typeface="Ubuntu"/>
                <a:ea typeface="Ubuntu"/>
                <a:cs typeface="Ubuntu"/>
                <a:sym typeface="Ubuntu"/>
              </a:rPr>
              <a:t> – </a:t>
            </a:r>
            <a:r>
              <a:rPr lang="ko" sz="1200">
                <a:solidFill>
                  <a:srgbClr val="188038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499</a:t>
            </a:r>
            <a:r>
              <a:rPr lang="ko" sz="1200">
                <a:solidFill>
                  <a:srgbClr val="1B1B1B"/>
                </a:solidFill>
                <a:highlight>
                  <a:srgbClr val="FFFFFF"/>
                </a:highlight>
                <a:latin typeface="Ubuntu"/>
                <a:ea typeface="Ubuntu"/>
                <a:cs typeface="Ubuntu"/>
                <a:sym typeface="Ubuntu"/>
              </a:rPr>
              <a:t>)</a:t>
            </a:r>
            <a:endParaRPr sz="1200">
              <a:solidFill>
                <a:srgbClr val="1B1B1B"/>
              </a:solidFill>
              <a:highlight>
                <a:srgbClr val="FFFFFF"/>
              </a:highlight>
              <a:latin typeface="Ubuntu"/>
              <a:ea typeface="Ubuntu"/>
              <a:cs typeface="Ubuntu"/>
              <a:sym typeface="Ubuntu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200"/>
              <a:buFont typeface="Ubuntu"/>
              <a:buAutoNum type="arabicPeriod"/>
            </a:pPr>
            <a:r>
              <a:rPr lang="ko" sz="1200" u="sng">
                <a:solidFill>
                  <a:schemeClr val="hlink"/>
                </a:solidFill>
                <a:highlight>
                  <a:srgbClr val="FFFFFF"/>
                </a:highlight>
                <a:latin typeface="Ubuntu"/>
                <a:ea typeface="Ubuntu"/>
                <a:cs typeface="Ubuntu"/>
                <a:sym typeface="Ubuntu"/>
                <a:hlinkClick r:id="rId8"/>
              </a:rPr>
              <a:t>Server error responses</a:t>
            </a:r>
            <a:r>
              <a:rPr lang="ko" sz="1200">
                <a:solidFill>
                  <a:srgbClr val="1B1B1B"/>
                </a:solidFill>
                <a:highlight>
                  <a:srgbClr val="FFFFFF"/>
                </a:highlight>
                <a:latin typeface="Ubuntu"/>
                <a:ea typeface="Ubuntu"/>
                <a:cs typeface="Ubuntu"/>
                <a:sym typeface="Ubuntu"/>
              </a:rPr>
              <a:t> (</a:t>
            </a:r>
            <a:r>
              <a:rPr lang="ko" sz="1200">
                <a:solidFill>
                  <a:srgbClr val="188038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500</a:t>
            </a:r>
            <a:r>
              <a:rPr lang="ko" sz="1200">
                <a:solidFill>
                  <a:srgbClr val="1B1B1B"/>
                </a:solidFill>
                <a:highlight>
                  <a:srgbClr val="FFFFFF"/>
                </a:highlight>
                <a:latin typeface="Ubuntu"/>
                <a:ea typeface="Ubuntu"/>
                <a:cs typeface="Ubuntu"/>
                <a:sym typeface="Ubuntu"/>
              </a:rPr>
              <a:t> – </a:t>
            </a:r>
            <a:r>
              <a:rPr lang="ko" sz="1200">
                <a:solidFill>
                  <a:srgbClr val="188038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599</a:t>
            </a:r>
            <a:r>
              <a:rPr lang="ko" sz="1200">
                <a:solidFill>
                  <a:srgbClr val="1B1B1B"/>
                </a:solidFill>
                <a:highlight>
                  <a:srgbClr val="FFFFFF"/>
                </a:highlight>
                <a:latin typeface="Ubuntu"/>
                <a:ea typeface="Ubuntu"/>
                <a:cs typeface="Ubuntu"/>
                <a:sym typeface="Ubuntu"/>
              </a:rPr>
              <a:t>)</a:t>
            </a:r>
            <a:endParaRPr sz="1200">
              <a:solidFill>
                <a:srgbClr val="1B1B1B"/>
              </a:solidFill>
              <a:highlight>
                <a:srgbClr val="FFFFFF"/>
              </a:highlight>
              <a:latin typeface="Ubuntu"/>
              <a:ea typeface="Ubuntu"/>
              <a:cs typeface="Ubuntu"/>
              <a:sym typeface="Ubuntu"/>
            </a:endParaRPr>
          </a:p>
        </p:txBody>
      </p:sp>
      <p:graphicFrame>
        <p:nvGraphicFramePr>
          <p:cNvPr id="252" name="Google Shape;252;p36"/>
          <p:cNvGraphicFramePr/>
          <p:nvPr/>
        </p:nvGraphicFramePr>
        <p:xfrm>
          <a:off x="4209575" y="2316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{4EB3DB3B-0DDC-4309-9B61-FAA00DC575C3}</a:tableStyleId>
              </a:tblPr>
              <a:tblGrid>
                <a:gridCol w="1037150"/>
                <a:gridCol w="1131925"/>
                <a:gridCol w="2653375"/>
              </a:tblGrid>
              <a:tr h="3014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/>
                        <a:t>200</a:t>
                      </a:r>
                      <a:endParaRPr b="1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OK</a:t>
                      </a:r>
                      <a:endParaRPr sz="11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요청 성공</a:t>
                      </a:r>
                      <a:endParaRPr sz="1000"/>
                    </a:p>
                  </a:txBody>
                  <a:tcPr marT="91425" marB="91425" marR="91425" marL="91425">
                    <a:noFill/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/>
                        <a:t>301</a:t>
                      </a:r>
                      <a:endParaRPr b="1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Moved Permannently</a:t>
                      </a:r>
                      <a:endParaRPr sz="1100"/>
                    </a:p>
                  </a:txBody>
                  <a:tcPr marT="91425" marB="91425" marR="91425" marL="91425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리다이렉션 : 요청한 리소스 URI 변경됨</a:t>
                      </a:r>
                      <a:endParaRPr sz="1000"/>
                    </a:p>
                  </a:txBody>
                  <a:tcPr marT="91425" marB="91425" marR="91425" marL="91425">
                    <a:noFill/>
                  </a:tcPr>
                </a:tc>
              </a:tr>
              <a:tr h="546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/>
                        <a:t>400</a:t>
                      </a:r>
                      <a:endParaRPr b="1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BAD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REQUEST</a:t>
                      </a:r>
                      <a:endParaRPr sz="11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서버가 이해할수 없는 요청</a:t>
                      </a:r>
                      <a:endParaRPr sz="10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94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/>
                        <a:t>404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NOT FOUND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요청한 자원을 찾을수 없다, 서버가 모르는 URL 요청이다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14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/>
                        <a:t>500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Internal</a:t>
                      </a:r>
                      <a:br>
                        <a:rPr lang="ko" sz="1100"/>
                      </a:br>
                      <a:r>
                        <a:rPr lang="ko" sz="1100"/>
                        <a:t>Server Error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서버에서 처리 도중 오류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7"/>
          <p:cNvSpPr txBox="1"/>
          <p:nvPr>
            <p:ph type="title"/>
          </p:nvPr>
        </p:nvSpPr>
        <p:spPr>
          <a:xfrm>
            <a:off x="311700" y="1402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MIME type (ContentType)</a:t>
            </a:r>
            <a:endParaRPr/>
          </a:p>
        </p:txBody>
      </p:sp>
      <p:sp>
        <p:nvSpPr>
          <p:cNvPr id="258" name="Google Shape;258;p37"/>
          <p:cNvSpPr txBox="1"/>
          <p:nvPr>
            <p:ph idx="1" type="body"/>
          </p:nvPr>
        </p:nvSpPr>
        <p:spPr>
          <a:xfrm>
            <a:off x="311700" y="961525"/>
            <a:ext cx="8520600" cy="184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u="sng">
                <a:solidFill>
                  <a:schemeClr val="hlink"/>
                </a:solidFill>
                <a:hlinkClick r:id="rId3"/>
              </a:rPr>
              <a:t>https://developer.mozilla.org/ko/docs/Web/HTTP/Basics_of_HTTP/MIME_types</a:t>
            </a:r>
            <a:endParaRPr sz="13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ko" sz="1300"/>
              <a:t>클라이언트에게 (혹은 서버에게) 전송된 문서(데이터) 가 어떠한 종류의 데이터인지 알려주는 메커니즘. </a:t>
            </a:r>
            <a:endParaRPr sz="13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ko" sz="1300"/>
              <a:t> 웹에서 파일의 확장자는 별 의미가 없습니다. </a:t>
            </a:r>
            <a:endParaRPr sz="13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ko" sz="1300"/>
              <a:t>그러므로, 각 문서(데이터)와 함께 올바른 MIME 타입을 전송하도록, </a:t>
            </a:r>
            <a:endParaRPr sz="1300"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ko" sz="1300"/>
              <a:t>request 나 response 에 정확히 설정하는 것이 중요합니다. </a:t>
            </a:r>
            <a:endParaRPr sz="1300"/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ko" sz="1300"/>
              <a:t>브라우저들은 서버로부터 리소스를 내려받았을 때 해야 할 기본 동작이 무엇인지를 결정하기 위해 대게 MIME 타입을 사용합니다.</a:t>
            </a:r>
            <a:endParaRPr sz="1300"/>
          </a:p>
        </p:txBody>
      </p:sp>
      <p:sp>
        <p:nvSpPr>
          <p:cNvPr id="259" name="Google Shape;259;p37"/>
          <p:cNvSpPr txBox="1"/>
          <p:nvPr/>
        </p:nvSpPr>
        <p:spPr>
          <a:xfrm>
            <a:off x="2749900" y="3196375"/>
            <a:ext cx="3000000" cy="40020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B1B1B"/>
                </a:solidFill>
              </a:rPr>
              <a:t>MIME 구조 : </a:t>
            </a:r>
            <a:r>
              <a:rPr b="1" lang="ko">
                <a:solidFill>
                  <a:srgbClr val="1B1B1B"/>
                </a:solidFill>
              </a:rPr>
              <a:t>type/subtype</a:t>
            </a:r>
            <a:endParaRPr b="1">
              <a:solidFill>
                <a:srgbClr val="1B1B1B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4" name="Google Shape;264;p38"/>
          <p:cNvGraphicFramePr/>
          <p:nvPr/>
        </p:nvGraphicFramePr>
        <p:xfrm>
          <a:off x="1125950" y="69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{A33FCC44-5095-4EFF-96A3-F47EEC7053C7}</a:tableStyleId>
              </a:tblPr>
              <a:tblGrid>
                <a:gridCol w="737200"/>
                <a:gridCol w="2137000"/>
                <a:gridCol w="4421750"/>
              </a:tblGrid>
              <a:tr h="398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00">
                          <a:solidFill>
                            <a:srgbClr val="1B1B1B"/>
                          </a:solidFill>
                          <a:highlight>
                            <a:srgbClr val="FFFFFF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타입</a:t>
                      </a:r>
                      <a:endParaRPr b="1" sz="1000">
                        <a:solidFill>
                          <a:srgbClr val="1B1B1B"/>
                        </a:solidFill>
                        <a:highlight>
                          <a:srgbClr val="FFFFFF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00">
                          <a:solidFill>
                            <a:srgbClr val="1B1B1B"/>
                          </a:solidFill>
                          <a:highlight>
                            <a:srgbClr val="FFFFFF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설명</a:t>
                      </a:r>
                      <a:endParaRPr b="1" sz="1000">
                        <a:solidFill>
                          <a:srgbClr val="1B1B1B"/>
                        </a:solidFill>
                        <a:highlight>
                          <a:srgbClr val="FFFFFF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00">
                          <a:solidFill>
                            <a:srgbClr val="1B1B1B"/>
                          </a:solidFill>
                          <a:highlight>
                            <a:srgbClr val="FFFFFF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일반적인 서브타입 예시</a:t>
                      </a:r>
                      <a:endParaRPr b="1" sz="1000">
                        <a:solidFill>
                          <a:srgbClr val="1B1B1B"/>
                        </a:solidFill>
                        <a:highlight>
                          <a:srgbClr val="FFFFFF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472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88038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text</a:t>
                      </a:r>
                      <a:endParaRPr sz="1000">
                        <a:solidFill>
                          <a:srgbClr val="188038"/>
                        </a:solidFill>
                        <a:highlight>
                          <a:srgbClr val="FFFFFF"/>
                        </a:highlight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B1B1B"/>
                          </a:solidFill>
                          <a:highlight>
                            <a:srgbClr val="FFFFFF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텍스트를 포함하는 모든 문서를 나타내며 이론상으로는 인간이 읽을 수 있어야 합니다</a:t>
                      </a:r>
                      <a:endParaRPr sz="1000">
                        <a:solidFill>
                          <a:srgbClr val="1B1B1B"/>
                        </a:solidFill>
                        <a:highlight>
                          <a:srgbClr val="FFFFFF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88038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text/plain</a:t>
                      </a:r>
                      <a:r>
                        <a:rPr lang="ko" sz="1000">
                          <a:solidFill>
                            <a:srgbClr val="1B1B1B"/>
                          </a:solidFill>
                          <a:highlight>
                            <a:srgbClr val="FFFFFF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, </a:t>
                      </a:r>
                      <a:r>
                        <a:rPr lang="ko" sz="1000">
                          <a:solidFill>
                            <a:srgbClr val="188038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text/html</a:t>
                      </a:r>
                      <a:r>
                        <a:rPr lang="ko" sz="1000">
                          <a:solidFill>
                            <a:srgbClr val="1B1B1B"/>
                          </a:solidFill>
                          <a:highlight>
                            <a:srgbClr val="FFFFFF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, </a:t>
                      </a:r>
                      <a:r>
                        <a:rPr lang="ko" sz="1000">
                          <a:solidFill>
                            <a:srgbClr val="188038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text/css, text/javascript</a:t>
                      </a:r>
                      <a:endParaRPr sz="1000">
                        <a:solidFill>
                          <a:srgbClr val="188038"/>
                        </a:solidFill>
                        <a:highlight>
                          <a:srgbClr val="FFFFFF"/>
                        </a:highlight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819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88038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image</a:t>
                      </a:r>
                      <a:endParaRPr sz="1000">
                        <a:solidFill>
                          <a:srgbClr val="188038"/>
                        </a:solidFill>
                        <a:highlight>
                          <a:srgbClr val="FFFFFF"/>
                        </a:highlight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B1B1B"/>
                          </a:solidFill>
                          <a:highlight>
                            <a:srgbClr val="FFFFFF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모든 종류의 이미지를 나타냅니다. (animated gif처럼) 애니메이션되는 이미지가 이미지 타입에 포함되긴 하지만, 비디오는 포함되지 않습니다.</a:t>
                      </a:r>
                      <a:endParaRPr sz="1000">
                        <a:solidFill>
                          <a:srgbClr val="1B1B1B"/>
                        </a:solidFill>
                        <a:highlight>
                          <a:srgbClr val="FFFFFF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88038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image/gif</a:t>
                      </a:r>
                      <a:r>
                        <a:rPr lang="ko" sz="1000">
                          <a:solidFill>
                            <a:srgbClr val="1B1B1B"/>
                          </a:solidFill>
                          <a:highlight>
                            <a:srgbClr val="FFFFFF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, </a:t>
                      </a:r>
                      <a:r>
                        <a:rPr lang="ko" sz="1000">
                          <a:solidFill>
                            <a:srgbClr val="188038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image/png</a:t>
                      </a:r>
                      <a:r>
                        <a:rPr lang="ko" sz="1000">
                          <a:solidFill>
                            <a:srgbClr val="1B1B1B"/>
                          </a:solidFill>
                          <a:highlight>
                            <a:srgbClr val="FFFFFF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, </a:t>
                      </a:r>
                      <a:r>
                        <a:rPr lang="ko" sz="1000">
                          <a:solidFill>
                            <a:srgbClr val="188038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image/jpeg</a:t>
                      </a:r>
                      <a:r>
                        <a:rPr lang="ko" sz="1000">
                          <a:solidFill>
                            <a:srgbClr val="1B1B1B"/>
                          </a:solidFill>
                          <a:highlight>
                            <a:srgbClr val="FFFFFF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, </a:t>
                      </a:r>
                      <a:r>
                        <a:rPr lang="ko" sz="1000">
                          <a:solidFill>
                            <a:srgbClr val="188038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image/bmp</a:t>
                      </a:r>
                      <a:r>
                        <a:rPr lang="ko" sz="1000">
                          <a:solidFill>
                            <a:srgbClr val="1B1B1B"/>
                          </a:solidFill>
                          <a:highlight>
                            <a:srgbClr val="FFFFFF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, </a:t>
                      </a:r>
                      <a:r>
                        <a:rPr lang="ko" sz="1000">
                          <a:solidFill>
                            <a:srgbClr val="188038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image/webp</a:t>
                      </a:r>
                      <a:endParaRPr sz="1000">
                        <a:solidFill>
                          <a:srgbClr val="188038"/>
                        </a:solidFill>
                        <a:highlight>
                          <a:srgbClr val="FFFFFF"/>
                        </a:highlight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2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88038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audio</a:t>
                      </a:r>
                      <a:endParaRPr sz="1000">
                        <a:solidFill>
                          <a:srgbClr val="188038"/>
                        </a:solidFill>
                        <a:highlight>
                          <a:srgbClr val="FFFFFF"/>
                        </a:highlight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B1B1B"/>
                          </a:solidFill>
                          <a:highlight>
                            <a:srgbClr val="FFFFFF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모든 종류의 오디오 파일들을 나타냅니다.</a:t>
                      </a:r>
                      <a:endParaRPr sz="1000">
                        <a:solidFill>
                          <a:srgbClr val="1B1B1B"/>
                        </a:solidFill>
                        <a:highlight>
                          <a:srgbClr val="FFFFFF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88038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audio/midi</a:t>
                      </a:r>
                      <a:r>
                        <a:rPr lang="ko" sz="1000">
                          <a:solidFill>
                            <a:srgbClr val="1B1B1B"/>
                          </a:solidFill>
                          <a:highlight>
                            <a:srgbClr val="FFFFFF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, </a:t>
                      </a:r>
                      <a:r>
                        <a:rPr lang="ko" sz="1000">
                          <a:solidFill>
                            <a:srgbClr val="188038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audio/mpeg, audio/webm, audio/ogg, audio/wav</a:t>
                      </a:r>
                      <a:endParaRPr sz="1000">
                        <a:solidFill>
                          <a:srgbClr val="188038"/>
                        </a:solidFill>
                        <a:highlight>
                          <a:srgbClr val="FFFFFF"/>
                        </a:highlight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32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88038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video</a:t>
                      </a:r>
                      <a:endParaRPr sz="1000">
                        <a:solidFill>
                          <a:srgbClr val="188038"/>
                        </a:solidFill>
                        <a:highlight>
                          <a:srgbClr val="FFFFFF"/>
                        </a:highlight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B1B1B"/>
                          </a:solidFill>
                          <a:highlight>
                            <a:srgbClr val="FFFFFF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모든 종류의 비디오 파일들을 나타냅니다.</a:t>
                      </a:r>
                      <a:endParaRPr sz="1000">
                        <a:solidFill>
                          <a:srgbClr val="1B1B1B"/>
                        </a:solidFill>
                        <a:highlight>
                          <a:srgbClr val="FFFFFF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88038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video/webm</a:t>
                      </a:r>
                      <a:r>
                        <a:rPr lang="ko" sz="1000">
                          <a:solidFill>
                            <a:srgbClr val="1B1B1B"/>
                          </a:solidFill>
                          <a:highlight>
                            <a:srgbClr val="FFFFFF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, </a:t>
                      </a:r>
                      <a:r>
                        <a:rPr lang="ko" sz="1000">
                          <a:solidFill>
                            <a:srgbClr val="188038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video/ogg</a:t>
                      </a:r>
                      <a:endParaRPr sz="1000">
                        <a:solidFill>
                          <a:srgbClr val="188038"/>
                        </a:solidFill>
                        <a:highlight>
                          <a:srgbClr val="FFFFFF"/>
                        </a:highlight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  <a:tr h="61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88038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application</a:t>
                      </a:r>
                      <a:endParaRPr sz="1000">
                        <a:solidFill>
                          <a:srgbClr val="188038"/>
                        </a:solidFill>
                        <a:highlight>
                          <a:srgbClr val="FFFFFF"/>
                        </a:highlight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B1B1B"/>
                          </a:solidFill>
                          <a:highlight>
                            <a:srgbClr val="FFFFFF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모든 종류의 이진 데이터를 나타냅니다.</a:t>
                      </a:r>
                      <a:endParaRPr sz="1000">
                        <a:solidFill>
                          <a:srgbClr val="1B1B1B"/>
                        </a:solidFill>
                        <a:highlight>
                          <a:srgbClr val="FFFFFF"/>
                        </a:highlight>
                        <a:latin typeface="Ubuntu"/>
                        <a:ea typeface="Ubuntu"/>
                        <a:cs typeface="Ubuntu"/>
                        <a:sym typeface="Ubuntu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188038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application/octet-stream</a:t>
                      </a:r>
                      <a:r>
                        <a:rPr lang="ko" sz="1000">
                          <a:solidFill>
                            <a:srgbClr val="1B1B1B"/>
                          </a:solidFill>
                          <a:highlight>
                            <a:srgbClr val="FFFFFF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, </a:t>
                      </a:r>
                      <a:r>
                        <a:rPr lang="ko" sz="1000">
                          <a:solidFill>
                            <a:srgbClr val="188038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application/pkcs12</a:t>
                      </a:r>
                      <a:r>
                        <a:rPr lang="ko" sz="1000">
                          <a:solidFill>
                            <a:srgbClr val="1B1B1B"/>
                          </a:solidFill>
                          <a:highlight>
                            <a:srgbClr val="FFFFFF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, </a:t>
                      </a:r>
                      <a:r>
                        <a:rPr lang="ko" sz="1000">
                          <a:solidFill>
                            <a:srgbClr val="188038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application/vnd.mspowerpoint</a:t>
                      </a:r>
                      <a:r>
                        <a:rPr lang="ko" sz="1000">
                          <a:solidFill>
                            <a:srgbClr val="1B1B1B"/>
                          </a:solidFill>
                          <a:highlight>
                            <a:srgbClr val="FFFFFF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, </a:t>
                      </a:r>
                      <a:r>
                        <a:rPr lang="ko" sz="1000">
                          <a:solidFill>
                            <a:srgbClr val="188038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application/xhtml+xml</a:t>
                      </a:r>
                      <a:r>
                        <a:rPr lang="ko" sz="1000">
                          <a:solidFill>
                            <a:srgbClr val="1B1B1B"/>
                          </a:solidFill>
                          <a:highlight>
                            <a:srgbClr val="FFFFFF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, </a:t>
                      </a:r>
                      <a:r>
                        <a:rPr lang="ko" sz="1000">
                          <a:solidFill>
                            <a:srgbClr val="188038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application/xml</a:t>
                      </a:r>
                      <a:r>
                        <a:rPr lang="ko" sz="1000">
                          <a:solidFill>
                            <a:srgbClr val="1B1B1B"/>
                          </a:solidFill>
                          <a:highlight>
                            <a:srgbClr val="FFFFFF"/>
                          </a:highlight>
                          <a:latin typeface="Ubuntu"/>
                          <a:ea typeface="Ubuntu"/>
                          <a:cs typeface="Ubuntu"/>
                          <a:sym typeface="Ubuntu"/>
                        </a:rPr>
                        <a:t>, </a:t>
                      </a:r>
                      <a:r>
                        <a:rPr lang="ko" sz="1000">
                          <a:solidFill>
                            <a:srgbClr val="188038"/>
                          </a:solidFill>
                          <a:highlight>
                            <a:srgbClr val="FFFFFF"/>
                          </a:highlight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application/pdf</a:t>
                      </a:r>
                      <a:endParaRPr sz="1000">
                        <a:solidFill>
                          <a:srgbClr val="188038"/>
                        </a:solidFill>
                        <a:highlight>
                          <a:srgbClr val="FFFFFF"/>
                        </a:highlight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9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웹 프로그래밍을 한다…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0"/>
          <p:cNvSpPr txBox="1"/>
          <p:nvPr>
            <p:ph type="title"/>
          </p:nvPr>
        </p:nvSpPr>
        <p:spPr>
          <a:xfrm>
            <a:off x="311700" y="1402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웹 개발 을 한다는 것은..?</a:t>
            </a:r>
            <a:endParaRPr/>
          </a:p>
        </p:txBody>
      </p:sp>
      <p:sp>
        <p:nvSpPr>
          <p:cNvPr id="275" name="Google Shape;275;p40"/>
          <p:cNvSpPr txBox="1"/>
          <p:nvPr>
            <p:ph idx="1" type="body"/>
          </p:nvPr>
        </p:nvSpPr>
        <p:spPr>
          <a:xfrm>
            <a:off x="311700" y="961525"/>
            <a:ext cx="8520600" cy="50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980000"/>
                </a:solidFill>
              </a:rPr>
              <a:t>request </a:t>
            </a:r>
            <a:r>
              <a:rPr lang="ko"/>
              <a:t>를 받아서 → </a:t>
            </a:r>
            <a:r>
              <a:rPr b="1" lang="ko">
                <a:solidFill>
                  <a:srgbClr val="980000"/>
                </a:solidFill>
              </a:rPr>
              <a:t>처리</a:t>
            </a:r>
            <a:r>
              <a:rPr lang="ko"/>
              <a:t>하고 → </a:t>
            </a:r>
            <a:r>
              <a:rPr b="1" lang="ko">
                <a:solidFill>
                  <a:srgbClr val="980000"/>
                </a:solidFill>
              </a:rPr>
              <a:t>response</a:t>
            </a:r>
            <a:r>
              <a:rPr lang="ko"/>
              <a:t> 하는 것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ko"/>
              <a:t>이때 response 로는 주고 웹 문서(</a:t>
            </a:r>
            <a:r>
              <a:rPr b="1" lang="ko">
                <a:solidFill>
                  <a:srgbClr val="0000FF"/>
                </a:solidFill>
              </a:rPr>
              <a:t>HTML</a:t>
            </a:r>
            <a:r>
              <a:rPr lang="ko"/>
              <a:t>) 이지만, 그밖에도 JSON, 이미지… </a:t>
            </a:r>
            <a:endParaRPr/>
          </a:p>
        </p:txBody>
      </p:sp>
      <p:sp>
        <p:nvSpPr>
          <p:cNvPr id="276" name="Google Shape;276;p40"/>
          <p:cNvSpPr txBox="1"/>
          <p:nvPr>
            <p:ph type="title"/>
          </p:nvPr>
        </p:nvSpPr>
        <p:spPr>
          <a:xfrm>
            <a:off x="311700" y="22738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웹 프로그래밍을 을 한다는 것은..?</a:t>
            </a:r>
            <a:endParaRPr/>
          </a:p>
        </p:txBody>
      </p:sp>
      <p:sp>
        <p:nvSpPr>
          <p:cNvPr id="277" name="Google Shape;277;p40"/>
          <p:cNvSpPr txBox="1"/>
          <p:nvPr>
            <p:ph idx="1" type="body"/>
          </p:nvPr>
        </p:nvSpPr>
        <p:spPr>
          <a:xfrm>
            <a:off x="311700" y="3095125"/>
            <a:ext cx="8520600" cy="9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ko"/>
              <a:t>그 웹 </a:t>
            </a:r>
            <a:r>
              <a:rPr lang="ko"/>
              <a:t>문서(HTML)가 동적인 내용을 담고 동작하는 웹문서가 될수 있도록</a:t>
            </a:r>
            <a:br>
              <a:rPr lang="ko"/>
            </a:br>
            <a:r>
              <a:rPr lang="ko"/>
              <a:t> 웹 응용프로그램을 개발하는 것.   일반적으로 데이터베이스와 연동이 필수적으로 동반됨.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0425" y="-16600"/>
            <a:ext cx="6727050" cy="283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41"/>
          <p:cNvSpPr/>
          <p:nvPr/>
        </p:nvSpPr>
        <p:spPr>
          <a:xfrm>
            <a:off x="296375" y="2439000"/>
            <a:ext cx="2963700" cy="20364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41"/>
          <p:cNvSpPr/>
          <p:nvPr/>
        </p:nvSpPr>
        <p:spPr>
          <a:xfrm>
            <a:off x="6544550" y="2766275"/>
            <a:ext cx="1668600" cy="23031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41"/>
          <p:cNvSpPr/>
          <p:nvPr/>
        </p:nvSpPr>
        <p:spPr>
          <a:xfrm>
            <a:off x="4106150" y="2439000"/>
            <a:ext cx="1668600" cy="23403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41"/>
          <p:cNvSpPr/>
          <p:nvPr/>
        </p:nvSpPr>
        <p:spPr>
          <a:xfrm>
            <a:off x="1226525" y="2613875"/>
            <a:ext cx="944700" cy="3765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HTML</a:t>
            </a:r>
            <a:endParaRPr/>
          </a:p>
        </p:txBody>
      </p:sp>
      <p:sp>
        <p:nvSpPr>
          <p:cNvPr id="287" name="Google Shape;287;p41"/>
          <p:cNvSpPr/>
          <p:nvPr/>
        </p:nvSpPr>
        <p:spPr>
          <a:xfrm>
            <a:off x="1226525" y="3071075"/>
            <a:ext cx="944700" cy="3765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CSS</a:t>
            </a:r>
            <a:endParaRPr/>
          </a:p>
        </p:txBody>
      </p:sp>
      <p:sp>
        <p:nvSpPr>
          <p:cNvPr id="288" name="Google Shape;288;p41"/>
          <p:cNvSpPr/>
          <p:nvPr/>
        </p:nvSpPr>
        <p:spPr>
          <a:xfrm>
            <a:off x="429700" y="3528275"/>
            <a:ext cx="1208100" cy="3765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JavaScript</a:t>
            </a:r>
            <a:endParaRPr/>
          </a:p>
        </p:txBody>
      </p:sp>
      <p:sp>
        <p:nvSpPr>
          <p:cNvPr id="289" name="Google Shape;289;p41"/>
          <p:cNvSpPr/>
          <p:nvPr/>
        </p:nvSpPr>
        <p:spPr>
          <a:xfrm>
            <a:off x="1801300" y="3528275"/>
            <a:ext cx="1208100" cy="3765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999999"/>
                </a:solidFill>
              </a:rPr>
              <a:t>JQuery</a:t>
            </a:r>
            <a:endParaRPr>
              <a:solidFill>
                <a:srgbClr val="99999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999999"/>
                </a:solidFill>
              </a:rPr>
              <a:t>/ Bootstrap</a:t>
            </a:r>
            <a:endParaRPr sz="900">
              <a:solidFill>
                <a:srgbClr val="999999"/>
              </a:solidFill>
            </a:endParaRPr>
          </a:p>
        </p:txBody>
      </p:sp>
      <p:sp>
        <p:nvSpPr>
          <p:cNvPr id="290" name="Google Shape;290;p41"/>
          <p:cNvSpPr/>
          <p:nvPr/>
        </p:nvSpPr>
        <p:spPr>
          <a:xfrm>
            <a:off x="1801300" y="3985475"/>
            <a:ext cx="1208100" cy="3765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AJAX</a:t>
            </a:r>
            <a:endParaRPr/>
          </a:p>
        </p:txBody>
      </p:sp>
      <p:sp>
        <p:nvSpPr>
          <p:cNvPr id="291" name="Google Shape;291;p41"/>
          <p:cNvSpPr/>
          <p:nvPr/>
        </p:nvSpPr>
        <p:spPr>
          <a:xfrm>
            <a:off x="4306250" y="2557175"/>
            <a:ext cx="1178400" cy="3192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ASP.NET</a:t>
            </a:r>
            <a:endParaRPr/>
          </a:p>
        </p:txBody>
      </p:sp>
      <p:sp>
        <p:nvSpPr>
          <p:cNvPr id="292" name="Google Shape;292;p41"/>
          <p:cNvSpPr/>
          <p:nvPr/>
        </p:nvSpPr>
        <p:spPr>
          <a:xfrm>
            <a:off x="4306250" y="2944735"/>
            <a:ext cx="1178400" cy="3192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ASP</a:t>
            </a:r>
            <a:endParaRPr/>
          </a:p>
        </p:txBody>
      </p:sp>
      <p:sp>
        <p:nvSpPr>
          <p:cNvPr id="293" name="Google Shape;293;p41"/>
          <p:cNvSpPr/>
          <p:nvPr/>
        </p:nvSpPr>
        <p:spPr>
          <a:xfrm>
            <a:off x="4306250" y="3332296"/>
            <a:ext cx="1178400" cy="3192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PHP</a:t>
            </a:r>
            <a:endParaRPr/>
          </a:p>
        </p:txBody>
      </p:sp>
      <p:sp>
        <p:nvSpPr>
          <p:cNvPr id="294" name="Google Shape;294;p41"/>
          <p:cNvSpPr/>
          <p:nvPr/>
        </p:nvSpPr>
        <p:spPr>
          <a:xfrm>
            <a:off x="4306250" y="3719856"/>
            <a:ext cx="1178400" cy="3192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JSP/Servlet</a:t>
            </a:r>
            <a:endParaRPr/>
          </a:p>
        </p:txBody>
      </p:sp>
      <p:sp>
        <p:nvSpPr>
          <p:cNvPr id="295" name="Google Shape;295;p41"/>
          <p:cNvSpPr/>
          <p:nvPr/>
        </p:nvSpPr>
        <p:spPr>
          <a:xfrm>
            <a:off x="6744650" y="2785775"/>
            <a:ext cx="1208100" cy="3765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MS-SQL</a:t>
            </a:r>
            <a:endParaRPr/>
          </a:p>
        </p:txBody>
      </p:sp>
      <p:sp>
        <p:nvSpPr>
          <p:cNvPr id="296" name="Google Shape;296;p41"/>
          <p:cNvSpPr/>
          <p:nvPr/>
        </p:nvSpPr>
        <p:spPr>
          <a:xfrm>
            <a:off x="6744650" y="3242975"/>
            <a:ext cx="1208100" cy="3765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ORACLE</a:t>
            </a:r>
            <a:endParaRPr/>
          </a:p>
        </p:txBody>
      </p:sp>
      <p:sp>
        <p:nvSpPr>
          <p:cNvPr id="297" name="Google Shape;297;p41"/>
          <p:cNvSpPr/>
          <p:nvPr/>
        </p:nvSpPr>
        <p:spPr>
          <a:xfrm>
            <a:off x="6744650" y="3700175"/>
            <a:ext cx="1208100" cy="3765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MySql/MariaDB</a:t>
            </a:r>
            <a:endParaRPr sz="1000"/>
          </a:p>
        </p:txBody>
      </p:sp>
      <p:sp>
        <p:nvSpPr>
          <p:cNvPr id="298" name="Google Shape;298;p41"/>
          <p:cNvSpPr/>
          <p:nvPr/>
        </p:nvSpPr>
        <p:spPr>
          <a:xfrm>
            <a:off x="6744650" y="4157375"/>
            <a:ext cx="1208100" cy="3765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MongoDB</a:t>
            </a:r>
            <a:endParaRPr/>
          </a:p>
        </p:txBody>
      </p:sp>
      <p:sp>
        <p:nvSpPr>
          <p:cNvPr id="299" name="Google Shape;299;p41"/>
          <p:cNvSpPr/>
          <p:nvPr/>
        </p:nvSpPr>
        <p:spPr>
          <a:xfrm>
            <a:off x="6744650" y="4614575"/>
            <a:ext cx="1208100" cy="3765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Postgre</a:t>
            </a:r>
            <a:endParaRPr/>
          </a:p>
        </p:txBody>
      </p:sp>
      <p:sp>
        <p:nvSpPr>
          <p:cNvPr id="300" name="Google Shape;300;p41"/>
          <p:cNvSpPr/>
          <p:nvPr/>
        </p:nvSpPr>
        <p:spPr>
          <a:xfrm>
            <a:off x="2659175" y="932375"/>
            <a:ext cx="12081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request</a:t>
            </a:r>
            <a:endParaRPr/>
          </a:p>
        </p:txBody>
      </p:sp>
      <p:sp>
        <p:nvSpPr>
          <p:cNvPr id="301" name="Google Shape;301;p41"/>
          <p:cNvSpPr/>
          <p:nvPr/>
        </p:nvSpPr>
        <p:spPr>
          <a:xfrm>
            <a:off x="2659175" y="1541975"/>
            <a:ext cx="12081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response</a:t>
            </a:r>
            <a:endParaRPr/>
          </a:p>
        </p:txBody>
      </p:sp>
      <p:sp>
        <p:nvSpPr>
          <p:cNvPr id="302" name="Google Shape;302;p41"/>
          <p:cNvSpPr txBox="1"/>
          <p:nvPr/>
        </p:nvSpPr>
        <p:spPr>
          <a:xfrm>
            <a:off x="656475" y="2111725"/>
            <a:ext cx="2375700" cy="2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0000"/>
                </a:solidFill>
              </a:rPr>
              <a:t>클라이언트/프론트엔드(필)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303" name="Google Shape;303;p41"/>
          <p:cNvSpPr txBox="1"/>
          <p:nvPr/>
        </p:nvSpPr>
        <p:spPr>
          <a:xfrm>
            <a:off x="3933075" y="2111725"/>
            <a:ext cx="2200500" cy="2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0000"/>
                </a:solidFill>
              </a:rPr>
              <a:t>서버/백엔드 (택)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304" name="Google Shape;304;p41"/>
          <p:cNvSpPr/>
          <p:nvPr/>
        </p:nvSpPr>
        <p:spPr>
          <a:xfrm>
            <a:off x="3032175" y="4571175"/>
            <a:ext cx="1267800" cy="376500"/>
          </a:xfrm>
          <a:prstGeom prst="roundRect">
            <a:avLst>
              <a:gd fmla="val 16667" name="adj"/>
            </a:avLst>
          </a:prstGeom>
          <a:solidFill>
            <a:srgbClr val="00FFFF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XML / Json</a:t>
            </a:r>
            <a:endParaRPr/>
          </a:p>
        </p:txBody>
      </p:sp>
      <p:sp>
        <p:nvSpPr>
          <p:cNvPr id="305" name="Google Shape;305;p41"/>
          <p:cNvSpPr txBox="1"/>
          <p:nvPr>
            <p:ph type="title"/>
          </p:nvPr>
        </p:nvSpPr>
        <p:spPr>
          <a:xfrm>
            <a:off x="83100" y="-12175"/>
            <a:ext cx="35037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400"/>
              <a:t>클라이언트 / 서버</a:t>
            </a:r>
            <a:br>
              <a:rPr lang="ko" sz="2400"/>
            </a:br>
            <a:r>
              <a:rPr lang="ko" sz="2400"/>
              <a:t>프론트엔드 / 백엔드..</a:t>
            </a:r>
            <a:endParaRPr sz="2400"/>
          </a:p>
        </p:txBody>
      </p:sp>
      <p:cxnSp>
        <p:nvCxnSpPr>
          <p:cNvPr id="306" name="Google Shape;306;p41"/>
          <p:cNvCxnSpPr/>
          <p:nvPr/>
        </p:nvCxnSpPr>
        <p:spPr>
          <a:xfrm>
            <a:off x="3795600" y="578600"/>
            <a:ext cx="5700" cy="429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Dot"/>
            <a:round/>
            <a:headEnd len="med" w="med" type="none"/>
            <a:tailEnd len="med" w="med" type="none"/>
          </a:ln>
        </p:spPr>
      </p:cxnSp>
      <p:sp>
        <p:nvSpPr>
          <p:cNvPr id="307" name="Google Shape;307;p41"/>
          <p:cNvSpPr/>
          <p:nvPr/>
        </p:nvSpPr>
        <p:spPr>
          <a:xfrm>
            <a:off x="4313113" y="4109935"/>
            <a:ext cx="1178400" cy="3192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Node.js/Express</a:t>
            </a:r>
            <a:endParaRPr sz="1000"/>
          </a:p>
        </p:txBody>
      </p:sp>
      <p:sp>
        <p:nvSpPr>
          <p:cNvPr id="308" name="Google Shape;308;p41"/>
          <p:cNvSpPr/>
          <p:nvPr/>
        </p:nvSpPr>
        <p:spPr>
          <a:xfrm>
            <a:off x="4306250" y="4500023"/>
            <a:ext cx="1178400" cy="3192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/>
              <a:t>Django/Flask</a:t>
            </a:r>
            <a:endParaRPr sz="13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웹개발 관련 직종..</a:t>
            </a:r>
            <a:endParaRPr/>
          </a:p>
        </p:txBody>
      </p:sp>
      <p:sp>
        <p:nvSpPr>
          <p:cNvPr id="314" name="Google Shape;314;p42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웹 프로그래머</a:t>
            </a:r>
            <a:r>
              <a:rPr lang="ko"/>
              <a:t>  : 주로 백엔드 쪽 프로그래밍을 전담 하고,  프론트 엔드의 ‘구조’ 까지 개발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ko"/>
              <a:t>웹 퍼블리셔</a:t>
            </a:r>
            <a:r>
              <a:rPr lang="ko"/>
              <a:t> : 프론트 엔드의 레이아웃 / UI / UX / 스타일 개발.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ko"/>
              <a:t>웹 디자이너</a:t>
            </a:r>
            <a:r>
              <a:rPr lang="ko"/>
              <a:t> : 프론트 엔드의 이미지 및 디자인 개발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009668"/>
      </a:accent2>
      <a:accent3>
        <a:srgbClr val="4DB6AC"/>
      </a:accent3>
      <a:accent4>
        <a:srgbClr val="FF9800"/>
      </a:accent4>
      <a:accent5>
        <a:srgbClr val="CE93D8"/>
      </a:accent5>
      <a:accent6>
        <a:srgbClr val="EEFF41"/>
      </a:accent6>
      <a:hlink>
        <a:srgbClr val="CE93D8"/>
      </a:hlink>
      <a:folHlink>
        <a:srgbClr val="CE93D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