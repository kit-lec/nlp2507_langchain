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PT Sans Narrow"/>
      <p:regular r:id="rId9"/>
      <p:bold r:id="rId10"/>
    </p:embeddedFont>
    <p:embeddedFont>
      <p:font typeface="Open Sans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OpenSans-regular.fntdata"/><Relationship Id="rId10" Type="http://schemas.openxmlformats.org/officeDocument/2006/relationships/font" Target="fonts/PTSansNarrow-bold.fntdata"/><Relationship Id="rId13" Type="http://schemas.openxmlformats.org/officeDocument/2006/relationships/font" Target="fonts/OpenSans-italic.fntdata"/><Relationship Id="rId12" Type="http://schemas.openxmlformats.org/officeDocument/2006/relationships/font" Target="fonts/Open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PTSansNarrow-regular.fntdata"/><Relationship Id="rId14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d1b55474bc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d1b55474bc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d1b55474bc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d1b55474bc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d1b55474bc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d1b55474bc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프로그래밍 언어를 배우고 다룬다는 것</a:t>
            </a:r>
            <a:endParaRPr/>
          </a:p>
        </p:txBody>
      </p:sp>
      <p:pic>
        <p:nvPicPr>
          <p:cNvPr id="67" name="Google Shape;6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24100" y="2441425"/>
            <a:ext cx="2109000" cy="210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3750" y="2314400"/>
            <a:ext cx="3992900" cy="223602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3"/>
          <p:cNvSpPr/>
          <p:nvPr/>
        </p:nvSpPr>
        <p:spPr>
          <a:xfrm>
            <a:off x="4490600" y="2938000"/>
            <a:ext cx="1560600" cy="461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3A77D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3"/>
          <p:cNvSpPr/>
          <p:nvPr/>
        </p:nvSpPr>
        <p:spPr>
          <a:xfrm>
            <a:off x="4777250" y="2643400"/>
            <a:ext cx="796200" cy="987300"/>
          </a:xfrm>
          <a:prstGeom prst="mathMultiply">
            <a:avLst>
              <a:gd fmla="val 23520" name="adj1"/>
            </a:avLst>
          </a:prstGeom>
          <a:solidFill>
            <a:srgbClr val="FFFF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/>
          <p:nvPr/>
        </p:nvSpPr>
        <p:spPr>
          <a:xfrm>
            <a:off x="464100" y="123325"/>
            <a:ext cx="2748600" cy="3599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사람이 이해하고 만들수 있는 언어   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programming language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76" name="Google Shape;7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73475" y="1130675"/>
            <a:ext cx="2109000" cy="210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375" y="1671175"/>
            <a:ext cx="2717827" cy="18118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4"/>
          <p:cNvSpPr/>
          <p:nvPr/>
        </p:nvSpPr>
        <p:spPr>
          <a:xfrm>
            <a:off x="3767700" y="1589075"/>
            <a:ext cx="2809800" cy="1192200"/>
          </a:xfrm>
          <a:prstGeom prst="rightArrow">
            <a:avLst>
              <a:gd fmla="val 72865" name="adj1"/>
              <a:gd fmla="val 50000" name="adj2"/>
            </a:avLst>
          </a:prstGeom>
          <a:solidFill>
            <a:srgbClr val="00FFFF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컴파일러 (Compiler) 혹은</a:t>
            </a:r>
            <a:br>
              <a:rPr b="1" lang="ko"/>
            </a:b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인터프리터 (Interpreter)</a:t>
            </a:r>
            <a:endParaRPr b="1"/>
          </a:p>
        </p:txBody>
      </p:sp>
      <p:sp>
        <p:nvSpPr>
          <p:cNvPr id="79" name="Google Shape;79;p14"/>
          <p:cNvSpPr/>
          <p:nvPr/>
        </p:nvSpPr>
        <p:spPr>
          <a:xfrm>
            <a:off x="3917350" y="1027100"/>
            <a:ext cx="1815300" cy="341400"/>
          </a:xfrm>
          <a:prstGeom prst="wedgeRoundRectCallout">
            <a:avLst>
              <a:gd fmla="val -28947" name="adj1"/>
              <a:gd fmla="val 180888" name="adj2"/>
              <a:gd fmla="val 0" name="adj3"/>
            </a:avLst>
          </a:prstGeom>
          <a:solidFill>
            <a:schemeClr val="lt1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Java, C, C++</a:t>
            </a:r>
            <a:endParaRPr/>
          </a:p>
        </p:txBody>
      </p:sp>
      <p:sp>
        <p:nvSpPr>
          <p:cNvPr id="80" name="Google Shape;80;p14"/>
          <p:cNvSpPr/>
          <p:nvPr/>
        </p:nvSpPr>
        <p:spPr>
          <a:xfrm>
            <a:off x="4069750" y="2932100"/>
            <a:ext cx="2236200" cy="1407300"/>
          </a:xfrm>
          <a:prstGeom prst="wedgeRoundRectCallout">
            <a:avLst>
              <a:gd fmla="val -31892" name="adj1"/>
              <a:gd fmla="val -77869" name="adj2"/>
              <a:gd fmla="val 0" name="adj3"/>
            </a:avLst>
          </a:prstGeom>
          <a:solidFill>
            <a:schemeClr val="lt1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Python, JavaScript..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프로그램 코드를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하나하나 읽어 들이며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곧바로 해석해서 컴퓨터에게 실행시킴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Python  의 Interpreter</a:t>
            </a:r>
            <a:endParaRPr/>
          </a:p>
        </p:txBody>
      </p:sp>
      <p:sp>
        <p:nvSpPr>
          <p:cNvPr id="86" name="Google Shape;86;p15"/>
          <p:cNvSpPr txBox="1"/>
          <p:nvPr>
            <p:ph idx="1" type="body"/>
          </p:nvPr>
        </p:nvSpPr>
        <p:spPr>
          <a:xfrm>
            <a:off x="3509700" y="1338000"/>
            <a:ext cx="2124600" cy="52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ko"/>
              <a:t>python.exe</a:t>
            </a:r>
            <a:endParaRPr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